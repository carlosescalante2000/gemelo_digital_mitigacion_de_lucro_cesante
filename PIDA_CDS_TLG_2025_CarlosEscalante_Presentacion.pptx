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s-MX" sz="1100" b="0" u="none" strike="noStrike">
                <a:solidFill>
                  <a:srgbClr val="1A3A5C"/>
                </a:solidFill>
                <a:uFillTx/>
                <a:latin typeface="Arial"/>
              </a:rPr>
              <a:t>Capital Liberado por Nivel de Sobre-Pedido (MXN)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Capital Liberado (MXN)</c:v>
                </c:pt>
              </c:strCache>
            </c:strRef>
          </c:tx>
          <c:spPr>
            <a:solidFill>
              <a:srgbClr val="C00000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C00000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C00000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1E6B3C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2E75B6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2E75B6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2E75B6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D4A017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D4A017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1A3A5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1A3A5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1A3A5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1A3A5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1A3A5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#,##0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1A3A5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#,##0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1A3A5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#,##0" sourceLinked="0"/>
              <c:txPr>
                <a:bodyPr wrap="square"/>
                <a:lstStyle/>
                <a:p>
                  <a:pPr>
                    <a:defRPr sz="900" b="0" u="none" strike="noStrike">
                      <a:solidFill>
                        <a:srgbClr val="1A3A5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1A3A5C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+10%</c:v>
                </c:pt>
                <c:pt idx="1">
                  <c:v>+20%</c:v>
                </c:pt>
                <c:pt idx="2">
                  <c:v>+30%</c:v>
                </c:pt>
                <c:pt idx="3">
                  <c:v>+40%★</c:v>
                </c:pt>
                <c:pt idx="4">
                  <c:v>+60%</c:v>
                </c:pt>
                <c:pt idx="5">
                  <c:v>+80%</c:v>
                </c:pt>
                <c:pt idx="6">
                  <c:v>+100%</c:v>
                </c:pt>
                <c:pt idx="7">
                  <c:v>+200%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-137168</c:v>
                </c:pt>
                <c:pt idx="1">
                  <c:v>-28484</c:v>
                </c:pt>
                <c:pt idx="2">
                  <c:v>66403</c:v>
                </c:pt>
                <c:pt idx="3">
                  <c:v>181496</c:v>
                </c:pt>
                <c:pt idx="4">
                  <c:v>436249</c:v>
                </c:pt>
                <c:pt idx="5">
                  <c:v>646228</c:v>
                </c:pt>
                <c:pt idx="6">
                  <c:v>871518</c:v>
                </c:pt>
                <c:pt idx="7">
                  <c:v>1996810</c:v>
                </c:pt>
              </c:numCache>
            </c:numRef>
          </c:val>
        </c:ser>
        <c:gapWidth val="150"/>
        <c:overlap val="0"/>
        <c:axId val="70912753"/>
        <c:axId val="51860614"/>
      </c:barChart>
      <c:catAx>
        <c:axId val="7091275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51860614"/>
        <c:crosses val="autoZero"/>
        <c:auto val="1"/>
        <c:lblAlgn val="ctr"/>
        <c:lblOffset val="100"/>
        <c:noMultiLvlLbl val="0"/>
      </c:catAx>
      <c:valAx>
        <c:axId val="51860614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7091275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96A5B2A-B992-43F3-B33D-4A639642BB5D}" type="slidenum"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29C5F9-094E-4DB1-9E83-B4F0400AF0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C2F8D9-9EBD-4BAC-A07D-96BBD10C37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0C093E-D0E7-4312-8E08-E3D46AAD23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2B7171-D36B-415C-878B-E430E7D01F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8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5C5778-445B-4A70-8F1D-81E1F4E1F2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9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B5D4F7-6DE2-4CE5-8CF2-3540D4369F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10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716718-C40E-4D57-AB42-E56E4ACC73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11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EBAD41-9777-497A-B4D6-B7C672A54F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12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17C9BD-64FF-4ED3-9697-84FD6F27CE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13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B49C46-EBE7-461E-95DC-812ACC1EFC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1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3040F3-6B16-4513-817C-7B1EFAD736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1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EA1733-3A33-4324-891B-2DBEE8CEC5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1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9C02C1-F5BA-4CF2-80AC-4874F8CF78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1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1B31E7-DAA0-4BCD-86C0-519684BD2D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18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F3513C-B2DE-4207-A139-B98587C34D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19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5605C1-23BE-4521-A91A-80525B48A9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20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D1AEA2-BAA1-4189-B615-8126C52DEE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21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D53964-F734-422F-804D-CC83FDCA7F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chart" Target="../charts/chart1.xml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13"/>
          <p:cNvPicPr/>
          <p:nvPr/>
        </p:nvPicPr>
        <p:blipFill>
          <a:blip r:embed="rId1">
            <a:alphaModFix amt="49000"/>
          </a:blip>
          <a:stretch/>
        </p:blipFill>
        <p:spPr>
          <a:xfrm>
            <a:off x="1559880" y="897480"/>
            <a:ext cx="7583760" cy="307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Image 0" descr="preencoded.png"/>
          <p:cNvPicPr/>
          <p:nvPr/>
        </p:nvPicPr>
        <p:blipFill>
          <a:blip r:embed="rId2">
            <a:alphaModFix amt="18000"/>
          </a:blip>
          <a:stretch/>
        </p:blipFill>
        <p:spPr>
          <a:xfrm>
            <a:off x="5303520" y="-457200"/>
            <a:ext cx="4205880" cy="59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164520" y="0"/>
            <a:ext cx="54360" cy="5143320"/>
          </a:xfrm>
          <a:prstGeom prst="rect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502920" y="5943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249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PROYECTO INTEGRADOR DE DOMINIO AUTÓNOMO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502920" y="89604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AAAA"/>
                </a:solidFill>
                <a:effectLst/>
                <a:uFillTx/>
                <a:latin typeface="Calibri"/>
                <a:ea typeface="Calibri"/>
              </a:rPr>
              <a:t>Citizen Data Scientist — The Learning Gate | Tecnológico de Monterrey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502920" y="132588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Gemelo Digital de Inventario</a:t>
            </a:r>
            <a:endParaRPr lang="es-MX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502920" y="20574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0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en Retail — Mercería Tommy</a:t>
            </a:r>
            <a:endParaRPr lang="es-MX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502920" y="283464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Analítica Prescriptiva para Optimización de Compra  |  Carnaval 2026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502920" y="3200400"/>
            <a:ext cx="502920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502920" y="33375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Carlos Escalante Sánchez</a:t>
            </a:r>
            <a:r>
              <a:rPr lang="en-US" sz="1200" b="0" u="none" strike="noStrike">
                <a:solidFill>
                  <a:srgbClr val="AAAAAA"/>
                </a:solidFill>
                <a:effectLst/>
                <a:uFillTx/>
                <a:latin typeface="Calibri"/>
                <a:ea typeface="Calibri"/>
              </a:rPr>
              <a:t>  |  Mayo 2026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1" descr="preencoded.png"/>
          <p:cNvPicPr/>
          <p:nvPr/>
        </p:nvPicPr>
        <p:blipFill>
          <a:blip r:embed="rId3"/>
          <a:stretch/>
        </p:blipFill>
        <p:spPr>
          <a:xfrm>
            <a:off x="365760" y="4617720"/>
            <a:ext cx="347436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9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  <a:ea typeface="Calibri"/>
              </a:rPr>
              <a:t>1 / 18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0" descr="preencoded.png"/>
          <p:cNvPicPr/>
          <p:nvPr/>
        </p:nvPicPr>
        <p:blipFill>
          <a:blip r:embed="rId1">
            <a:alphaModFix amt="10000"/>
          </a:blip>
          <a:stretch/>
        </p:blipFill>
        <p:spPr>
          <a:xfrm>
            <a:off x="4754880" y="365760"/>
            <a:ext cx="41144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Shape 0"/>
          <p:cNvSpPr/>
          <p:nvPr/>
        </p:nvSpPr>
        <p:spPr>
          <a:xfrm>
            <a:off x="365760" y="201240"/>
            <a:ext cx="1828440" cy="255600"/>
          </a:xfrm>
          <a:prstGeom prst="roundRect">
            <a:avLst>
              <a:gd name="adj" fmla="val 17857"/>
            </a:avLst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365760" y="2012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365760" y="54864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¿Qué vamos a recorrer hoy?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365760" y="1097280"/>
            <a:ext cx="841248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365760" y="1463040"/>
            <a:ext cx="456840" cy="62136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365760" y="1463040"/>
            <a:ext cx="456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822960" y="1463040"/>
            <a:ext cx="3657240" cy="62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932760" y="149976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El Problema de Negocio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932760" y="1792080"/>
            <a:ext cx="3456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¿Por qué una mercería necesita ML?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365760" y="2331720"/>
            <a:ext cx="456840" cy="62136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365760" y="2331720"/>
            <a:ext cx="456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1"/>
          <p:cNvSpPr/>
          <p:nvPr/>
        </p:nvSpPr>
        <p:spPr>
          <a:xfrm>
            <a:off x="822960" y="2331720"/>
            <a:ext cx="3657240" cy="62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932760" y="236844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El Gemelo Digital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932760" y="2660760"/>
            <a:ext cx="3456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Datos sintéticos: metodología y validación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4"/>
          <p:cNvSpPr/>
          <p:nvPr/>
        </p:nvSpPr>
        <p:spPr>
          <a:xfrm>
            <a:off x="365760" y="3200400"/>
            <a:ext cx="456840" cy="62136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365760" y="3200400"/>
            <a:ext cx="456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822960" y="3200400"/>
            <a:ext cx="3657240" cy="62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932760" y="323712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Análisis Exploratorio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932760" y="3529440"/>
            <a:ext cx="3456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Hallazgos estadísticos y de negocio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365760" y="4069080"/>
            <a:ext cx="456840" cy="62136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365760" y="4069080"/>
            <a:ext cx="456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1"/>
          <p:cNvSpPr/>
          <p:nvPr/>
        </p:nvSpPr>
        <p:spPr>
          <a:xfrm>
            <a:off x="822960" y="4069080"/>
            <a:ext cx="3657240" cy="62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2"/>
          <p:cNvSpPr/>
          <p:nvPr/>
        </p:nvSpPr>
        <p:spPr>
          <a:xfrm>
            <a:off x="932760" y="410580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Modelos Predictivos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3"/>
          <p:cNvSpPr/>
          <p:nvPr/>
        </p:nvSpPr>
        <p:spPr>
          <a:xfrm>
            <a:off x="932760" y="4398120"/>
            <a:ext cx="3456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Simple → Múltiple → AutoML LightGBM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4"/>
          <p:cNvSpPr/>
          <p:nvPr/>
        </p:nvSpPr>
        <p:spPr>
          <a:xfrm>
            <a:off x="4709160" y="1463040"/>
            <a:ext cx="456840" cy="62136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5"/>
          <p:cNvSpPr/>
          <p:nvPr/>
        </p:nvSpPr>
        <p:spPr>
          <a:xfrm>
            <a:off x="4709160" y="1463040"/>
            <a:ext cx="456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6"/>
          <p:cNvSpPr/>
          <p:nvPr/>
        </p:nvSpPr>
        <p:spPr>
          <a:xfrm>
            <a:off x="5166360" y="1463040"/>
            <a:ext cx="3657240" cy="62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7"/>
          <p:cNvSpPr/>
          <p:nvPr/>
        </p:nvSpPr>
        <p:spPr>
          <a:xfrm>
            <a:off x="5276160" y="149976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Resultados y Blind Test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8"/>
          <p:cNvSpPr/>
          <p:nvPr/>
        </p:nvSpPr>
        <p:spPr>
          <a:xfrm>
            <a:off x="5276160" y="1792080"/>
            <a:ext cx="3456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OOT Carnaval 2026 — datos nunca vistos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9"/>
          <p:cNvSpPr/>
          <p:nvPr/>
        </p:nvSpPr>
        <p:spPr>
          <a:xfrm>
            <a:off x="4709160" y="2331720"/>
            <a:ext cx="456840" cy="62136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0"/>
          <p:cNvSpPr/>
          <p:nvPr/>
        </p:nvSpPr>
        <p:spPr>
          <a:xfrm>
            <a:off x="4709160" y="2331720"/>
            <a:ext cx="456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1"/>
          <p:cNvSpPr/>
          <p:nvPr/>
        </p:nvSpPr>
        <p:spPr>
          <a:xfrm>
            <a:off x="5166360" y="2331720"/>
            <a:ext cx="3657240" cy="62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2"/>
          <p:cNvSpPr/>
          <p:nvPr/>
        </p:nvSpPr>
        <p:spPr>
          <a:xfrm>
            <a:off x="5276160" y="236844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ROI &amp; Impacto Financiero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3"/>
          <p:cNvSpPr/>
          <p:nvPr/>
        </p:nvSpPr>
        <p:spPr>
          <a:xfrm>
            <a:off x="5276160" y="2660760"/>
            <a:ext cx="3456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$181,496 MXN liberados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4"/>
          <p:cNvSpPr/>
          <p:nvPr/>
        </p:nvSpPr>
        <p:spPr>
          <a:xfrm>
            <a:off x="4709160" y="3200400"/>
            <a:ext cx="456840" cy="62136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5"/>
          <p:cNvSpPr/>
          <p:nvPr/>
        </p:nvSpPr>
        <p:spPr>
          <a:xfrm>
            <a:off x="4709160" y="3200400"/>
            <a:ext cx="456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6"/>
          <p:cNvSpPr/>
          <p:nvPr/>
        </p:nvSpPr>
        <p:spPr>
          <a:xfrm>
            <a:off x="5166360" y="3200400"/>
            <a:ext cx="3657240" cy="62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7"/>
          <p:cNvSpPr/>
          <p:nvPr/>
        </p:nvSpPr>
        <p:spPr>
          <a:xfrm>
            <a:off x="5276160" y="323712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Dashboard Power BI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8"/>
          <p:cNvSpPr/>
          <p:nvPr/>
        </p:nvSpPr>
        <p:spPr>
          <a:xfrm>
            <a:off x="5276160" y="3529440"/>
            <a:ext cx="3456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Prescripción accionable para la dueña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39"/>
          <p:cNvSpPr/>
          <p:nvPr/>
        </p:nvSpPr>
        <p:spPr>
          <a:xfrm>
            <a:off x="4709160" y="4069080"/>
            <a:ext cx="456840" cy="62136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0"/>
          <p:cNvSpPr/>
          <p:nvPr/>
        </p:nvSpPr>
        <p:spPr>
          <a:xfrm>
            <a:off x="4709160" y="4069080"/>
            <a:ext cx="456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1"/>
          <p:cNvSpPr/>
          <p:nvPr/>
        </p:nvSpPr>
        <p:spPr>
          <a:xfrm>
            <a:off x="5166360" y="4069080"/>
            <a:ext cx="3657240" cy="62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2"/>
          <p:cNvSpPr/>
          <p:nvPr/>
        </p:nvSpPr>
        <p:spPr>
          <a:xfrm>
            <a:off x="5276160" y="410580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Conclusiones &amp; Roadmap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3"/>
          <p:cNvSpPr/>
          <p:nvPr/>
        </p:nvSpPr>
        <p:spPr>
          <a:xfrm>
            <a:off x="5276160" y="4398120"/>
            <a:ext cx="3456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Transición a datos reales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44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 / 18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 0" descr="preencoded.png"/>
          <p:cNvPicPr/>
          <p:nvPr/>
        </p:nvPicPr>
        <p:blipFill>
          <a:blip r:embed="rId1">
            <a:alphaModFix amt="12000"/>
          </a:blip>
          <a:stretch/>
        </p:blipFill>
        <p:spPr>
          <a:xfrm>
            <a:off x="5303520" y="182880"/>
            <a:ext cx="3657240" cy="475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Shape 0"/>
          <p:cNvSpPr/>
          <p:nvPr/>
        </p:nvSpPr>
        <p:spPr>
          <a:xfrm>
            <a:off x="365760" y="201240"/>
            <a:ext cx="1828440" cy="255600"/>
          </a:xfrm>
          <a:prstGeom prst="roundRect">
            <a:avLst>
              <a:gd name="adj" fmla="val 17857"/>
            </a:avLst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365760" y="2012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 • EL PROBLEMA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365760" y="54864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Mercería Tommy: dos problemas simultáneos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365760" y="1170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PYME de insumos para trajes de Carnaval en Tlaxcala — operación 100% empírica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4"/>
          <p:cNvSpPr/>
          <p:nvPr/>
        </p:nvSpPr>
        <p:spPr>
          <a:xfrm>
            <a:off x="365760" y="1097280"/>
            <a:ext cx="841248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5"/>
          <p:cNvSpPr/>
          <p:nvPr/>
        </p:nvSpPr>
        <p:spPr>
          <a:xfrm>
            <a:off x="365760" y="1417320"/>
            <a:ext cx="3977280" cy="3200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"/>
          <p:cNvSpPr/>
          <p:nvPr/>
        </p:nvSpPr>
        <p:spPr>
          <a:xfrm>
            <a:off x="365760" y="1417320"/>
            <a:ext cx="3977280" cy="727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502920" y="150876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C00000"/>
                </a:solidFill>
                <a:effectLst/>
                <a:uFillTx/>
                <a:latin typeface="Calibri"/>
                <a:ea typeface="Calibri"/>
              </a:rPr>
              <a:t>PROBLEMA 1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8"/>
          <p:cNvSpPr/>
          <p:nvPr/>
        </p:nvSpPr>
        <p:spPr>
          <a:xfrm>
            <a:off x="502920" y="1783080"/>
            <a:ext cx="374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Quiebres de Stock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en Temporada Alta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502920" y="248724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30,435 intentos de compra fallidos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durante 2022–2026 por falta de inventario.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502920" y="306324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Enero-febrero concentra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4.32× la demanda promedio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1"/>
          <p:cNvSpPr/>
          <p:nvPr/>
        </p:nvSpPr>
        <p:spPr>
          <a:xfrm>
            <a:off x="502920" y="3703320"/>
            <a:ext cx="3748680" cy="639720"/>
          </a:xfrm>
          <a:prstGeom prst="rect">
            <a:avLst/>
          </a:prstGeom>
          <a:solidFill>
            <a:srgbClr val="FF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594360" y="3730680"/>
            <a:ext cx="35658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00000"/>
                </a:solidFill>
                <a:effectLst/>
                <a:uFillTx/>
                <a:latin typeface="Calibri"/>
                <a:ea typeface="Calibri"/>
              </a:rPr>
              <a:t>Impacto: lucro cesante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00000"/>
                </a:solidFill>
                <a:effectLst/>
                <a:uFillTx/>
                <a:latin typeface="Calibri"/>
                <a:ea typeface="Calibri"/>
              </a:rPr>
              <a:t>nunca recuperable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3"/>
          <p:cNvSpPr/>
          <p:nvPr/>
        </p:nvSpPr>
        <p:spPr>
          <a:xfrm>
            <a:off x="4572000" y="1417320"/>
            <a:ext cx="3977280" cy="3200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4"/>
          <p:cNvSpPr/>
          <p:nvPr/>
        </p:nvSpPr>
        <p:spPr>
          <a:xfrm>
            <a:off x="4572000" y="1417320"/>
            <a:ext cx="3977280" cy="72720"/>
          </a:xfrm>
          <a:prstGeom prst="rect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4709160" y="150876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D4A017"/>
                </a:solidFill>
                <a:effectLst/>
                <a:uFillTx/>
                <a:latin typeface="Calibri"/>
                <a:ea typeface="Calibri"/>
              </a:rPr>
              <a:t>PROBLEMA 2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4709160" y="1783080"/>
            <a:ext cx="374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Sobre-Inventario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Fuera de Temporada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7"/>
          <p:cNvSpPr/>
          <p:nvPr/>
        </p:nvSpPr>
        <p:spPr>
          <a:xfrm>
            <a:off x="4709160" y="248724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+40% de sobre-pedido empírico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sin base cuantitativa — pura intuición.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8"/>
          <p:cNvSpPr/>
          <p:nvPr/>
        </p:nvSpPr>
        <p:spPr>
          <a:xfrm>
            <a:off x="4709160" y="306324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Capital inmovilizado con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Holding Cost del 15% anual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9"/>
          <p:cNvSpPr/>
          <p:nvPr/>
        </p:nvSpPr>
        <p:spPr>
          <a:xfrm>
            <a:off x="4709160" y="3703320"/>
            <a:ext cx="3748680" cy="639720"/>
          </a:xfrm>
          <a:prstGeom prst="rect">
            <a:avLst/>
          </a:prstGeom>
          <a:solidFill>
            <a:srgbClr val="FFFB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0"/>
          <p:cNvSpPr/>
          <p:nvPr/>
        </p:nvSpPr>
        <p:spPr>
          <a:xfrm>
            <a:off x="4800600" y="3730680"/>
            <a:ext cx="35658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6000"/>
                </a:solidFill>
                <a:effectLst/>
                <a:uFillTx/>
                <a:latin typeface="Calibri"/>
                <a:ea typeface="Calibri"/>
              </a:rPr>
              <a:t>Impacto: dinero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6000"/>
                </a:solidFill>
                <a:effectLst/>
                <a:uFillTx/>
                <a:latin typeface="Calibri"/>
                <a:ea typeface="Calibri"/>
              </a:rPr>
              <a:t>atrapado sin trabajar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1"/>
          <p:cNvSpPr/>
          <p:nvPr/>
        </p:nvSpPr>
        <p:spPr>
          <a:xfrm>
            <a:off x="4079160" y="2468880"/>
            <a:ext cx="676440" cy="67644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2"/>
          <p:cNvSpPr/>
          <p:nvPr/>
        </p:nvSpPr>
        <p:spPr>
          <a:xfrm>
            <a:off x="4079160" y="2468880"/>
            <a:ext cx="6764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VS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23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 / 18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Image 0" descr="preencoded.png"/>
          <p:cNvPicPr/>
          <p:nvPr/>
        </p:nvPicPr>
        <p:blipFill>
          <a:blip r:embed="rId1">
            <a:alphaModFix amt="20000"/>
          </a:blip>
          <a:stretch/>
        </p:blipFill>
        <p:spPr>
          <a:xfrm>
            <a:off x="5029200" y="-731520"/>
            <a:ext cx="4571640" cy="658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57200" y="36576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LA SOLUCIÓN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457200" y="65844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Gemelo Digital</a:t>
            </a:r>
            <a:endParaRPr lang="es-MX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57200" y="13258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impulsado por Machine Learning</a:t>
            </a:r>
            <a:endParaRPr lang="es-MX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457200" y="1874520"/>
            <a:ext cx="548640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5"/>
          <p:cNvSpPr/>
          <p:nvPr/>
        </p:nvSpPr>
        <p:spPr>
          <a:xfrm>
            <a:off x="457200" y="2011680"/>
            <a:ext cx="2605680" cy="2605680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548640" y="2084760"/>
            <a:ext cx="502560" cy="502560"/>
          </a:xfrm>
          <a:prstGeom prst="ellipse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548640" y="20847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SIM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548640" y="263340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Simulación Estocástica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548640" y="3035880"/>
            <a:ext cx="2422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CDDEE"/>
                </a:solidFill>
                <a:effectLst/>
                <a:uFillTx/>
                <a:latin typeface="Calibri"/>
                <a:ea typeface="Calibri"/>
              </a:rPr>
              <a:t>Motor probabilístico que replica 4 años de comportamiento de negocio (2022–2026) incluyendo restricción de capital y estacionalidad de Carnaval.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0"/>
          <p:cNvSpPr/>
          <p:nvPr/>
        </p:nvSpPr>
        <p:spPr>
          <a:xfrm>
            <a:off x="3291840" y="2011680"/>
            <a:ext cx="2605680" cy="2605680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1"/>
          <p:cNvSpPr/>
          <p:nvPr/>
        </p:nvSpPr>
        <p:spPr>
          <a:xfrm>
            <a:off x="3383280" y="2084760"/>
            <a:ext cx="502560" cy="502560"/>
          </a:xfrm>
          <a:prstGeom prst="ellipse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3383280" y="20847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ML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3383280" y="263340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AutoML con PyCaret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3383280" y="3035880"/>
            <a:ext cx="2422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CDDEE"/>
                </a:solidFill>
                <a:effectLst/>
                <a:uFillTx/>
                <a:latin typeface="Calibri"/>
                <a:ea typeface="Calibri"/>
              </a:rPr>
              <a:t>Pipeline completo: normalización Robust, Quantile Transform, eliminación de outliers, Backward Elimination y competencia multi-algoritmo.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5"/>
          <p:cNvSpPr/>
          <p:nvPr/>
        </p:nvSpPr>
        <p:spPr>
          <a:xfrm>
            <a:off x="6126480" y="2011680"/>
            <a:ext cx="2605680" cy="2605680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6"/>
          <p:cNvSpPr/>
          <p:nvPr/>
        </p:nvSpPr>
        <p:spPr>
          <a:xfrm>
            <a:off x="6217920" y="2084760"/>
            <a:ext cx="502560" cy="502560"/>
          </a:xfrm>
          <a:prstGeom prst="ellipse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7"/>
          <p:cNvSpPr/>
          <p:nvPr/>
        </p:nvSpPr>
        <p:spPr>
          <a:xfrm>
            <a:off x="6217920" y="20847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8"/>
          <p:cNvSpPr/>
          <p:nvPr/>
        </p:nvSpPr>
        <p:spPr>
          <a:xfrm>
            <a:off x="6217920" y="263340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Dashboard Prescriptivo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9"/>
          <p:cNvSpPr/>
          <p:nvPr/>
        </p:nvSpPr>
        <p:spPr>
          <a:xfrm>
            <a:off x="6217920" y="3035880"/>
            <a:ext cx="2422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CDDEE"/>
                </a:solidFill>
                <a:effectLst/>
                <a:uFillTx/>
                <a:latin typeface="Calibri"/>
                <a:ea typeface="Calibri"/>
              </a:rPr>
              <a:t>Semáforo de inventario en Power BI con Inversión Sugerida y Ganancia Proyectada — la dueña actúa sin conocer ML.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20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  <a:ea typeface="Calibri"/>
              </a:rPr>
              <a:t>4 / 18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 0" descr="preencoded.png"/>
          <p:cNvPicPr/>
          <p:nvPr/>
        </p:nvPicPr>
        <p:blipFill>
          <a:blip r:embed="rId1">
            <a:alphaModFix amt="12000"/>
          </a:blip>
          <a:stretch/>
        </p:blipFill>
        <p:spPr>
          <a:xfrm>
            <a:off x="5669280" y="274320"/>
            <a:ext cx="3474360" cy="46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Shape 0"/>
          <p:cNvSpPr/>
          <p:nvPr/>
        </p:nvSpPr>
        <p:spPr>
          <a:xfrm>
            <a:off x="365760" y="201240"/>
            <a:ext cx="1828440" cy="255600"/>
          </a:xfrm>
          <a:prstGeom prst="roundRect">
            <a:avLst>
              <a:gd name="adj" fmla="val 17857"/>
            </a:avLst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365760" y="2012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 • GEMELO DIGITAL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365760" y="54864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Datos sintéticos: metodología y escala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365760" y="1170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Motor estocástico con semilla 42 — reproducibilidad total garantizada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365760" y="1097280"/>
            <a:ext cx="841248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365760" y="1417320"/>
            <a:ext cx="196560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65760" y="1417320"/>
            <a:ext cx="72720" cy="100548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502920" y="149040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113,800</a:t>
            </a:r>
            <a:endParaRPr lang="es-MX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502920" y="2011680"/>
            <a:ext cx="1782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Transacciones simuladas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2514600" y="1417320"/>
            <a:ext cx="196560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2514600" y="1417320"/>
            <a:ext cx="72720" cy="100548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2651760" y="149040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7,735</a:t>
            </a:r>
            <a:endParaRPr lang="es-MX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2"/>
          <p:cNvSpPr/>
          <p:nvPr/>
        </p:nvSpPr>
        <p:spPr>
          <a:xfrm>
            <a:off x="2651760" y="2011680"/>
            <a:ext cx="1782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SKUs únicos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4663440" y="1417320"/>
            <a:ext cx="196560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4663440" y="1417320"/>
            <a:ext cx="72720" cy="100548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4800600" y="149040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s-MX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6"/>
          <p:cNvSpPr/>
          <p:nvPr/>
        </p:nvSpPr>
        <p:spPr>
          <a:xfrm>
            <a:off x="4800600" y="2011680"/>
            <a:ext cx="1782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Variables por registro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6812280" y="1417320"/>
            <a:ext cx="1965600" cy="1005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6812280" y="1417320"/>
            <a:ext cx="72720" cy="100548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9"/>
          <p:cNvSpPr/>
          <p:nvPr/>
        </p:nvSpPr>
        <p:spPr>
          <a:xfrm>
            <a:off x="6949440" y="149040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2022–26</a:t>
            </a:r>
            <a:endParaRPr lang="es-MX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0"/>
          <p:cNvSpPr/>
          <p:nvPr/>
        </p:nvSpPr>
        <p:spPr>
          <a:xfrm>
            <a:off x="6949440" y="2011680"/>
            <a:ext cx="1782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Cobertura temporal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1"/>
          <p:cNvSpPr/>
          <p:nvPr/>
        </p:nvSpPr>
        <p:spPr>
          <a:xfrm>
            <a:off x="365760" y="2606040"/>
            <a:ext cx="5028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Reglas de negocio simuladas: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2"/>
          <p:cNvSpPr/>
          <p:nvPr/>
        </p:nvSpPr>
        <p:spPr>
          <a:xfrm>
            <a:off x="365760" y="2926080"/>
            <a:ext cx="51202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🎭  Estacionalidad Carnaval — demanda 4.32× mayor en enero-febrero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💰  35% de probabilidad de compra reducida por restricción de capital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📦  Lead Time variable 3–8 días por proveedor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🚫  Venta Perdida registrada como costo de oportunidad medible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5760720" y="2578680"/>
            <a:ext cx="2925720" cy="2101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4"/>
          <p:cNvSpPr/>
          <p:nvPr/>
        </p:nvSpPr>
        <p:spPr>
          <a:xfrm>
            <a:off x="5760720" y="2578680"/>
            <a:ext cx="2925720" cy="5436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5"/>
          <p:cNvSpPr/>
          <p:nvPr/>
        </p:nvSpPr>
        <p:spPr>
          <a:xfrm>
            <a:off x="5852160" y="267012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2E75B6"/>
                </a:solidFill>
                <a:effectLst/>
                <a:uFillTx/>
                <a:latin typeface="Calibri"/>
                <a:ea typeface="Calibri"/>
              </a:rPr>
              <a:t>✅  VALIDACIÓN ESTADÍSTICA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6"/>
          <p:cNvSpPr/>
          <p:nvPr/>
        </p:nvSpPr>
        <p:spPr>
          <a:xfrm>
            <a:off x="5852160" y="29718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Welch's T-Test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7"/>
          <p:cNvSpPr/>
          <p:nvPr/>
        </p:nvSpPr>
        <p:spPr>
          <a:xfrm>
            <a:off x="5852160" y="331020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E75B6"/>
                </a:solidFill>
                <a:effectLst/>
                <a:uFillTx/>
                <a:latin typeface="Calibri"/>
                <a:ea typeface="Calibri"/>
              </a:rPr>
              <a:t>T = 17.30  |  p = 6.5×10⁻⁴²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8"/>
          <p:cNvSpPr/>
          <p:nvPr/>
        </p:nvSpPr>
        <p:spPr>
          <a:xfrm>
            <a:off x="5852160" y="3611880"/>
            <a:ext cx="27428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La probabilidad de que la diferencia de demanda Carnaval vs. resto del año sea producto del azar es 1 en 10⁴². El Gemelo Digital replicó exitosamente la estacionalidad.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29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 / 18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Image 0" descr="preencoded.png"/>
          <p:cNvPicPr/>
          <p:nvPr/>
        </p:nvPicPr>
        <p:blipFill>
          <a:blip r:embed="rId1">
            <a:alphaModFix amt="9000"/>
          </a:blip>
          <a:stretch/>
        </p:blipFill>
        <p:spPr>
          <a:xfrm>
            <a:off x="0" y="457200"/>
            <a:ext cx="320004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Shape 0"/>
          <p:cNvSpPr/>
          <p:nvPr/>
        </p:nvSpPr>
        <p:spPr>
          <a:xfrm>
            <a:off x="365760" y="201240"/>
            <a:ext cx="1828440" cy="255600"/>
          </a:xfrm>
          <a:prstGeom prst="roundRect">
            <a:avLst>
              <a:gd name="adj" fmla="val 17857"/>
            </a:avLst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365760" y="2012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 • ANÁLISIS EXPLORATORIO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365760" y="54864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Hallazgos de negocio del EDA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365760" y="1170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4 herramientas × 113,800 registros = decisiones basadas en evidencia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"/>
          <p:cNvSpPr/>
          <p:nvPr/>
        </p:nvSpPr>
        <p:spPr>
          <a:xfrm>
            <a:off x="365760" y="1097280"/>
            <a:ext cx="841248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5"/>
          <p:cNvSpPr/>
          <p:nvPr/>
        </p:nvSpPr>
        <p:spPr>
          <a:xfrm>
            <a:off x="365760" y="1417320"/>
            <a:ext cx="8412120" cy="639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365760" y="1417320"/>
            <a:ext cx="54360" cy="6397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7"/>
          <p:cNvSpPr/>
          <p:nvPr/>
        </p:nvSpPr>
        <p:spPr>
          <a:xfrm>
            <a:off x="457200" y="1490400"/>
            <a:ext cx="438480" cy="438480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457200" y="149040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IBT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9"/>
          <p:cNvSpPr/>
          <p:nvPr/>
        </p:nvSpPr>
        <p:spPr>
          <a:xfrm>
            <a:off x="1005840" y="14904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$43.4M MXN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0"/>
          <p:cNvSpPr/>
          <p:nvPr/>
        </p:nvSpPr>
        <p:spPr>
          <a:xfrm>
            <a:off x="1005840" y="1764720"/>
            <a:ext cx="6857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Ingreso bruto histórico 2022–2026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1"/>
          <p:cNvSpPr/>
          <p:nvPr/>
        </p:nvSpPr>
        <p:spPr>
          <a:xfrm>
            <a:off x="365760" y="2148840"/>
            <a:ext cx="8412120" cy="63972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25560" dir="8100000" dist="50402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2"/>
          <p:cNvSpPr/>
          <p:nvPr/>
        </p:nvSpPr>
        <p:spPr>
          <a:xfrm>
            <a:off x="365760" y="2148840"/>
            <a:ext cx="54360" cy="6397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3"/>
          <p:cNvSpPr/>
          <p:nvPr/>
        </p:nvSpPr>
        <p:spPr>
          <a:xfrm>
            <a:off x="457200" y="2221920"/>
            <a:ext cx="438480" cy="438480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4"/>
          <p:cNvSpPr/>
          <p:nvPr/>
        </p:nvSpPr>
        <p:spPr>
          <a:xfrm>
            <a:off x="457200" y="222192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QBK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5"/>
          <p:cNvSpPr/>
          <p:nvPr/>
        </p:nvSpPr>
        <p:spPr>
          <a:xfrm>
            <a:off x="1005840" y="22219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30,435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6"/>
          <p:cNvSpPr/>
          <p:nvPr/>
        </p:nvSpPr>
        <p:spPr>
          <a:xfrm>
            <a:off x="1005840" y="2496240"/>
            <a:ext cx="6857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Intentos de compra fallidos (Venta Perdida)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7"/>
          <p:cNvSpPr/>
          <p:nvPr/>
        </p:nvSpPr>
        <p:spPr>
          <a:xfrm>
            <a:off x="365760" y="2880360"/>
            <a:ext cx="8412120" cy="639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8"/>
          <p:cNvSpPr/>
          <p:nvPr/>
        </p:nvSpPr>
        <p:spPr>
          <a:xfrm>
            <a:off x="365760" y="2880360"/>
            <a:ext cx="54360" cy="63972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9"/>
          <p:cNvSpPr/>
          <p:nvPr/>
        </p:nvSpPr>
        <p:spPr>
          <a:xfrm>
            <a:off x="457200" y="2953440"/>
            <a:ext cx="438480" cy="43848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0"/>
          <p:cNvSpPr/>
          <p:nvPr/>
        </p:nvSpPr>
        <p:spPr>
          <a:xfrm>
            <a:off x="457200" y="295344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TOP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1"/>
          <p:cNvSpPr/>
          <p:nvPr/>
        </p:nvSpPr>
        <p:spPr>
          <a:xfrm>
            <a:off x="1005840" y="29534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70.57%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2"/>
          <p:cNvSpPr/>
          <p:nvPr/>
        </p:nvSpPr>
        <p:spPr>
          <a:xfrm>
            <a:off x="1005840" y="3227760"/>
            <a:ext cx="6857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Concentrado en colores Especiales (donut Power BI)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3"/>
          <p:cNvSpPr/>
          <p:nvPr/>
        </p:nvSpPr>
        <p:spPr>
          <a:xfrm>
            <a:off x="365760" y="3611880"/>
            <a:ext cx="8412120" cy="63972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25560" dir="8100000" dist="50402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4"/>
          <p:cNvSpPr/>
          <p:nvPr/>
        </p:nvSpPr>
        <p:spPr>
          <a:xfrm>
            <a:off x="365760" y="3611880"/>
            <a:ext cx="54360" cy="63972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5"/>
          <p:cNvSpPr/>
          <p:nvPr/>
        </p:nvSpPr>
        <p:spPr>
          <a:xfrm>
            <a:off x="457200" y="3684960"/>
            <a:ext cx="438480" cy="43848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6"/>
          <p:cNvSpPr/>
          <p:nvPr/>
        </p:nvSpPr>
        <p:spPr>
          <a:xfrm>
            <a:off x="457200" y="368496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MAX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7"/>
          <p:cNvSpPr/>
          <p:nvPr/>
        </p:nvSpPr>
        <p:spPr>
          <a:xfrm>
            <a:off x="1005840" y="368496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Ene 14, 2025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8"/>
          <p:cNvSpPr/>
          <p:nvPr/>
        </p:nvSpPr>
        <p:spPr>
          <a:xfrm>
            <a:off x="1005840" y="3959280"/>
            <a:ext cx="6857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Pico máximo: $326,331 MXN en un solo día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9"/>
          <p:cNvSpPr/>
          <p:nvPr/>
        </p:nvSpPr>
        <p:spPr>
          <a:xfrm>
            <a:off x="365760" y="4343400"/>
            <a:ext cx="8412120" cy="639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0"/>
          <p:cNvSpPr/>
          <p:nvPr/>
        </p:nvSpPr>
        <p:spPr>
          <a:xfrm>
            <a:off x="365760" y="4343400"/>
            <a:ext cx="54360" cy="63972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1"/>
          <p:cNvSpPr/>
          <p:nvPr/>
        </p:nvSpPr>
        <p:spPr>
          <a:xfrm>
            <a:off x="457200" y="4416480"/>
            <a:ext cx="438480" cy="43848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2"/>
          <p:cNvSpPr/>
          <p:nvPr/>
        </p:nvSpPr>
        <p:spPr>
          <a:xfrm>
            <a:off x="457200" y="441648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MRG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3"/>
          <p:cNvSpPr/>
          <p:nvPr/>
        </p:nvSpPr>
        <p:spPr>
          <a:xfrm>
            <a:off x="1005840" y="441648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$312.10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4"/>
          <p:cNvSpPr/>
          <p:nvPr/>
        </p:nvSpPr>
        <p:spPr>
          <a:xfrm>
            <a:off x="1005840" y="4690800"/>
            <a:ext cx="6857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Margen neto promedio por ticket exitoso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35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6 / 18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Image 0" descr="preencoded.png"/>
          <p:cNvPicPr/>
          <p:nvPr/>
        </p:nvPicPr>
        <p:blipFill>
          <a:blip r:embed="rId1">
            <a:alphaModFix amt="11000"/>
          </a:blip>
          <a:stretch/>
        </p:blipFill>
        <p:spPr>
          <a:xfrm>
            <a:off x="5029200" y="457200"/>
            <a:ext cx="3840120" cy="448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Shape 0"/>
          <p:cNvSpPr/>
          <p:nvPr/>
        </p:nvSpPr>
        <p:spPr>
          <a:xfrm>
            <a:off x="365760" y="201240"/>
            <a:ext cx="1828440" cy="255600"/>
          </a:xfrm>
          <a:prstGeom prst="roundRect">
            <a:avLst>
              <a:gd name="adj" fmla="val 17857"/>
            </a:avLst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365760" y="2012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 • MODELADO PREDICTIVO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365760" y="54864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Tres modelos — un ganador objetivo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365760" y="1170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AutoML evaluó más de 15 algoritmos en 5-Fold Cross-Validation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365760" y="1097280"/>
            <a:ext cx="841248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365760" y="1417320"/>
            <a:ext cx="2605680" cy="2902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365760" y="1417320"/>
            <a:ext cx="2605680" cy="2728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457200" y="1434600"/>
            <a:ext cx="242280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BASELINE 1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457200" y="1758960"/>
            <a:ext cx="2422800" cy="5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Regresión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Lineal Simple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9"/>
          <p:cNvSpPr/>
          <p:nvPr/>
        </p:nvSpPr>
        <p:spPr>
          <a:xfrm>
            <a:off x="457200" y="2382480"/>
            <a:ext cx="2422800" cy="4093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530280" y="2399400"/>
            <a:ext cx="228564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R²  0.0021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530280" y="2587320"/>
            <a:ext cx="228564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RMSE  2.697 uds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457200" y="2869200"/>
            <a:ext cx="2422800" cy="12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Precio como único predictor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β = 0.0015 por $ de precio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3"/>
          <p:cNvSpPr/>
          <p:nvPr/>
        </p:nvSpPr>
        <p:spPr>
          <a:xfrm>
            <a:off x="868680" y="3937320"/>
            <a:ext cx="1599840" cy="238680"/>
          </a:xfrm>
          <a:prstGeom prst="roundRect">
            <a:avLst>
              <a:gd name="adj" fmla="val 14286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868680" y="3937320"/>
            <a:ext cx="159984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Referencia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5"/>
          <p:cNvSpPr/>
          <p:nvPr/>
        </p:nvSpPr>
        <p:spPr>
          <a:xfrm>
            <a:off x="3200400" y="1417320"/>
            <a:ext cx="2605680" cy="2902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6"/>
          <p:cNvSpPr/>
          <p:nvPr/>
        </p:nvSpPr>
        <p:spPr>
          <a:xfrm>
            <a:off x="3200400" y="1417320"/>
            <a:ext cx="2605680" cy="27288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3291840" y="1434600"/>
            <a:ext cx="242280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BASELINE 2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3291840" y="1758960"/>
            <a:ext cx="2422800" cy="5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Regresión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Lineal Múltiple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9"/>
          <p:cNvSpPr/>
          <p:nvPr/>
        </p:nvSpPr>
        <p:spPr>
          <a:xfrm>
            <a:off x="3291840" y="2382480"/>
            <a:ext cx="2422800" cy="409320"/>
          </a:xfrm>
          <a:prstGeom prst="rect">
            <a:avLst/>
          </a:prstGeom>
          <a:solidFill>
            <a:srgbClr val="F0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0"/>
          <p:cNvSpPr/>
          <p:nvPr/>
        </p:nvSpPr>
        <p:spPr>
          <a:xfrm>
            <a:off x="3364920" y="2399400"/>
            <a:ext cx="228564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R²  0.1818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1"/>
          <p:cNvSpPr/>
          <p:nvPr/>
        </p:nvSpPr>
        <p:spPr>
          <a:xfrm>
            <a:off x="3364920" y="2587320"/>
            <a:ext cx="228564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RMSE  2.434 uds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2"/>
          <p:cNvSpPr/>
          <p:nvPr/>
        </p:nvSpPr>
        <p:spPr>
          <a:xfrm>
            <a:off x="3291840" y="2869200"/>
            <a:ext cx="2422800" cy="12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Backward Elimination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Mes + Precio + Año + Macro_Familia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CV: 0.1772 ± 0.0057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3"/>
          <p:cNvSpPr/>
          <p:nvPr/>
        </p:nvSpPr>
        <p:spPr>
          <a:xfrm>
            <a:off x="3703320" y="3937320"/>
            <a:ext cx="1599840" cy="238680"/>
          </a:xfrm>
          <a:prstGeom prst="roundRect">
            <a:avLst>
              <a:gd name="adj" fmla="val 14286"/>
            </a:avLst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4"/>
          <p:cNvSpPr/>
          <p:nvPr/>
        </p:nvSpPr>
        <p:spPr>
          <a:xfrm>
            <a:off x="3703320" y="3937320"/>
            <a:ext cx="159984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Modelo Clásico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5"/>
          <p:cNvSpPr/>
          <p:nvPr/>
        </p:nvSpPr>
        <p:spPr>
          <a:xfrm>
            <a:off x="6035040" y="1417320"/>
            <a:ext cx="2605680" cy="2902680"/>
          </a:xfrm>
          <a:prstGeom prst="rect">
            <a:avLst/>
          </a:prstGeom>
          <a:solidFill>
            <a:srgbClr val="0B2545"/>
          </a:solidFill>
          <a:ln w="25400">
            <a:solidFill>
              <a:srgbClr val="2E75B6"/>
            </a:solidFill>
            <a:round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6"/>
          <p:cNvSpPr/>
          <p:nvPr/>
        </p:nvSpPr>
        <p:spPr>
          <a:xfrm>
            <a:off x="6035040" y="1417320"/>
            <a:ext cx="2605680" cy="27288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7"/>
          <p:cNvSpPr/>
          <p:nvPr/>
        </p:nvSpPr>
        <p:spPr>
          <a:xfrm>
            <a:off x="6126480" y="1434600"/>
            <a:ext cx="242280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CAMPEÓN ★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8"/>
          <p:cNvSpPr/>
          <p:nvPr/>
        </p:nvSpPr>
        <p:spPr>
          <a:xfrm>
            <a:off x="6126480" y="1758960"/>
            <a:ext cx="2422800" cy="5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LightGBM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(AutoML PyCaret)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9"/>
          <p:cNvSpPr/>
          <p:nvPr/>
        </p:nvSpPr>
        <p:spPr>
          <a:xfrm>
            <a:off x="6126480" y="2382480"/>
            <a:ext cx="2422800" cy="409320"/>
          </a:xfrm>
          <a:prstGeom prst="rect">
            <a:avLst/>
          </a:prstGeom>
          <a:solidFill>
            <a:srgbClr val="1A4A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0"/>
          <p:cNvSpPr/>
          <p:nvPr/>
        </p:nvSpPr>
        <p:spPr>
          <a:xfrm>
            <a:off x="6199560" y="2399400"/>
            <a:ext cx="228564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R²  0.1195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1"/>
          <p:cNvSpPr/>
          <p:nvPr/>
        </p:nvSpPr>
        <p:spPr>
          <a:xfrm>
            <a:off x="6199560" y="2587320"/>
            <a:ext cx="228564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RMSE  2.525 uds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2"/>
          <p:cNvSpPr/>
          <p:nvPr/>
        </p:nvSpPr>
        <p:spPr>
          <a:xfrm>
            <a:off x="6126480" y="2869200"/>
            <a:ext cx="2422800" cy="12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Robust Scaler + Quantile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Transform + purga 5% outliers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5-Fold CV seleccionado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33"/>
          <p:cNvSpPr/>
          <p:nvPr/>
        </p:nvSpPr>
        <p:spPr>
          <a:xfrm>
            <a:off x="6537960" y="3937320"/>
            <a:ext cx="1599840" cy="238680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4"/>
          <p:cNvSpPr/>
          <p:nvPr/>
        </p:nvSpPr>
        <p:spPr>
          <a:xfrm>
            <a:off x="6537960" y="3937320"/>
            <a:ext cx="159984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Producción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5"/>
          <p:cNvSpPr/>
          <p:nvPr/>
        </p:nvSpPr>
        <p:spPr>
          <a:xfrm>
            <a:off x="365760" y="450396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Nota: el R² más bajo del LightGBM vs. Regresión Múltiple es consecuencia de la purga de outliers — el modelo gana robustez ante variabilidad extrema.</a:t>
            </a:r>
            <a:endParaRPr lang="es-MX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36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7 / 18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Image 0" descr="preencoded.png"/>
          <p:cNvPicPr/>
          <p:nvPr/>
        </p:nvPicPr>
        <p:blipFill>
          <a:blip r:embed="rId1">
            <a:alphaModFix amt="8000"/>
          </a:blip>
          <a:stretch/>
        </p:blipFill>
        <p:spPr>
          <a:xfrm>
            <a:off x="91440" y="548640"/>
            <a:ext cx="2925720" cy="420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Shape 0"/>
          <p:cNvSpPr/>
          <p:nvPr/>
        </p:nvSpPr>
        <p:spPr>
          <a:xfrm>
            <a:off x="365760" y="201240"/>
            <a:ext cx="1828440" cy="255600"/>
          </a:xfrm>
          <a:prstGeom prst="roundRect">
            <a:avLst>
              <a:gd name="adj" fmla="val 17857"/>
            </a:avLst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365760" y="2012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 • AUTOML PIPELINE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"/>
          <p:cNvSpPr/>
          <p:nvPr/>
        </p:nvSpPr>
        <p:spPr>
          <a:xfrm>
            <a:off x="365760" y="54864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Pipeline de Machine Learning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365760" y="1170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Auditoría de Data Leakage: 10 variables bloqueadas antes del entrenamiento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4"/>
          <p:cNvSpPr/>
          <p:nvPr/>
        </p:nvSpPr>
        <p:spPr>
          <a:xfrm>
            <a:off x="365760" y="1097280"/>
            <a:ext cx="841248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5"/>
          <p:cNvSpPr/>
          <p:nvPr/>
        </p:nvSpPr>
        <p:spPr>
          <a:xfrm>
            <a:off x="320040" y="1463040"/>
            <a:ext cx="1096920" cy="876960"/>
          </a:xfrm>
          <a:prstGeom prst="rect">
            <a:avLst/>
          </a:prstGeom>
          <a:solidFill>
            <a:srgbClr val="64748B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320040" y="14997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320040" y="177408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Datos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Originales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8"/>
          <p:cNvSpPr/>
          <p:nvPr/>
        </p:nvSpPr>
        <p:spPr>
          <a:xfrm>
            <a:off x="320040" y="225468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113,800 trans.</a:t>
            </a:r>
            <a:endParaRPr lang="es-MX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9"/>
          <p:cNvSpPr/>
          <p:nvPr/>
        </p:nvSpPr>
        <p:spPr>
          <a:xfrm>
            <a:off x="1417320" y="2011680"/>
            <a:ext cx="137160" cy="360"/>
          </a:xfrm>
          <a:prstGeom prst="line">
            <a:avLst/>
          </a:prstGeom>
          <a:ln w="190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0"/>
          <p:cNvSpPr/>
          <p:nvPr/>
        </p:nvSpPr>
        <p:spPr>
          <a:xfrm>
            <a:off x="1554480" y="1463040"/>
            <a:ext cx="1096920" cy="876960"/>
          </a:xfrm>
          <a:prstGeom prst="rect">
            <a:avLst/>
          </a:prstGeom>
          <a:solidFill>
            <a:srgbClr val="C00000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1"/>
          <p:cNvSpPr/>
          <p:nvPr/>
        </p:nvSpPr>
        <p:spPr>
          <a:xfrm>
            <a:off x="1554480" y="14997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1554480" y="177408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Bloqueo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Leakage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3"/>
          <p:cNvSpPr/>
          <p:nvPr/>
        </p:nvSpPr>
        <p:spPr>
          <a:xfrm>
            <a:off x="1554480" y="225468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 variables</a:t>
            </a:r>
            <a:endParaRPr lang="es-MX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bloqueadas</a:t>
            </a:r>
            <a:endParaRPr lang="es-MX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4"/>
          <p:cNvSpPr/>
          <p:nvPr/>
        </p:nvSpPr>
        <p:spPr>
          <a:xfrm>
            <a:off x="2651760" y="2011680"/>
            <a:ext cx="137160" cy="360"/>
          </a:xfrm>
          <a:prstGeom prst="line">
            <a:avLst/>
          </a:prstGeom>
          <a:ln w="190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5"/>
          <p:cNvSpPr/>
          <p:nvPr/>
        </p:nvSpPr>
        <p:spPr>
          <a:xfrm>
            <a:off x="2788920" y="1463040"/>
            <a:ext cx="1096920" cy="876960"/>
          </a:xfrm>
          <a:prstGeom prst="rect">
            <a:avLst/>
          </a:prstGeom>
          <a:solidFill>
            <a:srgbClr val="1A3A5C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6"/>
          <p:cNvSpPr/>
          <p:nvPr/>
        </p:nvSpPr>
        <p:spPr>
          <a:xfrm>
            <a:off x="2788920" y="14997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7"/>
          <p:cNvSpPr/>
          <p:nvPr/>
        </p:nvSpPr>
        <p:spPr>
          <a:xfrm>
            <a:off x="2788920" y="177408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Robust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Scaler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8"/>
          <p:cNvSpPr/>
          <p:nvPr/>
        </p:nvSpPr>
        <p:spPr>
          <a:xfrm>
            <a:off x="2788920" y="225468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Normalización</a:t>
            </a:r>
            <a:endParaRPr lang="es-MX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resistente</a:t>
            </a:r>
            <a:endParaRPr lang="es-MX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9"/>
          <p:cNvSpPr/>
          <p:nvPr/>
        </p:nvSpPr>
        <p:spPr>
          <a:xfrm>
            <a:off x="3886200" y="2011680"/>
            <a:ext cx="137160" cy="360"/>
          </a:xfrm>
          <a:prstGeom prst="line">
            <a:avLst/>
          </a:prstGeom>
          <a:ln w="190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0"/>
          <p:cNvSpPr/>
          <p:nvPr/>
        </p:nvSpPr>
        <p:spPr>
          <a:xfrm>
            <a:off x="4023360" y="1463040"/>
            <a:ext cx="1096920" cy="876960"/>
          </a:xfrm>
          <a:prstGeom prst="rect">
            <a:avLst/>
          </a:prstGeom>
          <a:solidFill>
            <a:srgbClr val="2E75B6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1"/>
          <p:cNvSpPr/>
          <p:nvPr/>
        </p:nvSpPr>
        <p:spPr>
          <a:xfrm>
            <a:off x="4023360" y="14997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2"/>
          <p:cNvSpPr/>
          <p:nvPr/>
        </p:nvSpPr>
        <p:spPr>
          <a:xfrm>
            <a:off x="4023360" y="177408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Quantile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Transform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3"/>
          <p:cNvSpPr/>
          <p:nvPr/>
        </p:nvSpPr>
        <p:spPr>
          <a:xfrm>
            <a:off x="4023360" y="225468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Corrección</a:t>
            </a:r>
            <a:endParaRPr lang="es-MX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de sesgo</a:t>
            </a:r>
            <a:endParaRPr lang="es-MX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4"/>
          <p:cNvSpPr/>
          <p:nvPr/>
        </p:nvSpPr>
        <p:spPr>
          <a:xfrm>
            <a:off x="5120640" y="2011680"/>
            <a:ext cx="137160" cy="360"/>
          </a:xfrm>
          <a:prstGeom prst="line">
            <a:avLst/>
          </a:prstGeom>
          <a:ln w="190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5"/>
          <p:cNvSpPr/>
          <p:nvPr/>
        </p:nvSpPr>
        <p:spPr>
          <a:xfrm>
            <a:off x="5257800" y="1463040"/>
            <a:ext cx="1096920" cy="876960"/>
          </a:xfrm>
          <a:prstGeom prst="rect">
            <a:avLst/>
          </a:prstGeom>
          <a:solidFill>
            <a:srgbClr val="D4A017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6"/>
          <p:cNvSpPr/>
          <p:nvPr/>
        </p:nvSpPr>
        <p:spPr>
          <a:xfrm>
            <a:off x="5257800" y="14997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7"/>
          <p:cNvSpPr/>
          <p:nvPr/>
        </p:nvSpPr>
        <p:spPr>
          <a:xfrm>
            <a:off x="5257800" y="177408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Purga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Outliers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8"/>
          <p:cNvSpPr/>
          <p:nvPr/>
        </p:nvSpPr>
        <p:spPr>
          <a:xfrm>
            <a:off x="5257800" y="225468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5% removido</a:t>
            </a:r>
            <a:endParaRPr lang="es-MX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(3,335 filas)</a:t>
            </a:r>
            <a:endParaRPr lang="es-MX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9"/>
          <p:cNvSpPr/>
          <p:nvPr/>
        </p:nvSpPr>
        <p:spPr>
          <a:xfrm>
            <a:off x="6355080" y="2011680"/>
            <a:ext cx="137160" cy="360"/>
          </a:xfrm>
          <a:prstGeom prst="line">
            <a:avLst/>
          </a:prstGeom>
          <a:ln w="190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0"/>
          <p:cNvSpPr/>
          <p:nvPr/>
        </p:nvSpPr>
        <p:spPr>
          <a:xfrm>
            <a:off x="6492240" y="1463040"/>
            <a:ext cx="1096920" cy="876960"/>
          </a:xfrm>
          <a:prstGeom prst="rect">
            <a:avLst/>
          </a:prstGeom>
          <a:solidFill>
            <a:srgbClr val="1A3A5C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1"/>
          <p:cNvSpPr/>
          <p:nvPr/>
        </p:nvSpPr>
        <p:spPr>
          <a:xfrm>
            <a:off x="6492240" y="14997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2"/>
          <p:cNvSpPr/>
          <p:nvPr/>
        </p:nvSpPr>
        <p:spPr>
          <a:xfrm>
            <a:off x="6492240" y="177408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5-Fold CV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Competencia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3"/>
          <p:cNvSpPr/>
          <p:nvPr/>
        </p:nvSpPr>
        <p:spPr>
          <a:xfrm>
            <a:off x="6492240" y="225468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15+ algoritmos</a:t>
            </a:r>
            <a:endParaRPr lang="es-MX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evaluados</a:t>
            </a:r>
            <a:endParaRPr lang="es-MX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34"/>
          <p:cNvSpPr/>
          <p:nvPr/>
        </p:nvSpPr>
        <p:spPr>
          <a:xfrm>
            <a:off x="7589520" y="2011680"/>
            <a:ext cx="137160" cy="360"/>
          </a:xfrm>
          <a:prstGeom prst="line">
            <a:avLst/>
          </a:prstGeom>
          <a:ln w="190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35"/>
          <p:cNvSpPr/>
          <p:nvPr/>
        </p:nvSpPr>
        <p:spPr>
          <a:xfrm>
            <a:off x="7726680" y="1463040"/>
            <a:ext cx="1096920" cy="876960"/>
          </a:xfrm>
          <a:prstGeom prst="rect">
            <a:avLst/>
          </a:prstGeom>
          <a:solidFill>
            <a:srgbClr val="2E75B6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6"/>
          <p:cNvSpPr/>
          <p:nvPr/>
        </p:nvSpPr>
        <p:spPr>
          <a:xfrm>
            <a:off x="7726680" y="14997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7"/>
          <p:cNvSpPr/>
          <p:nvPr/>
        </p:nvSpPr>
        <p:spPr>
          <a:xfrm>
            <a:off x="7726680" y="177408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LightGBM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Campeón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8"/>
          <p:cNvSpPr/>
          <p:nvPr/>
        </p:nvSpPr>
        <p:spPr>
          <a:xfrm>
            <a:off x="7726680" y="257868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Seleccionado por</a:t>
            </a:r>
            <a:endParaRPr lang="es-MX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RMSE mínimo</a:t>
            </a:r>
            <a:endParaRPr lang="es-MX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9"/>
          <p:cNvSpPr/>
          <p:nvPr/>
        </p:nvSpPr>
        <p:spPr>
          <a:xfrm>
            <a:off x="365760" y="25106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Variables bloqueadas por Data Leakage: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9" name="Table 0"/>
          <p:cNvGraphicFramePr/>
          <p:nvPr/>
        </p:nvGraphicFramePr>
        <p:xfrm>
          <a:off x="365760" y="2830680"/>
          <a:ext cx="8412120" cy="182844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4937760"/>
              </a:tblGrid>
              <a:tr h="304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Variable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Tipo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Razón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Total_MXN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Leakage Directo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= Cant × Precio — conocer el total implica conocer el target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Margen_Ganancia_Real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Leakage Directo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Requiere la cantidad vendida para calcularse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Stock_Post_Venta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Leakage Temporal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Estado post-transacción — no existe al momento de predecir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SKU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Alta Cardinalidad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ID compuesto — memoriza SKUs vistos, no generaliza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Estatus_Resurtido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Leakage Causal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A3A5C"/>
                          </a:solidFill>
                          <a:effectLst/>
                          <a:uFillTx/>
                          <a:latin typeface="Calibri"/>
                        </a:rPr>
                        <a:t>Depende directamente del evento a predecir</a:t>
                      </a:r>
                      <a:endParaRPr lang="es-MX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70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Text 40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8 / 18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Image 0" descr="preencoded.png"/>
          <p:cNvPicPr/>
          <p:nvPr/>
        </p:nvPicPr>
        <p:blipFill>
          <a:blip r:embed="rId1">
            <a:alphaModFix amt="18000"/>
          </a:blip>
          <a:stretch/>
        </p:blipFill>
        <p:spPr>
          <a:xfrm>
            <a:off x="4754880" y="-274320"/>
            <a:ext cx="4754520" cy="594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457200" y="274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201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05 • BLIND TEST — CARNAVAL 2026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"/>
          <p:cNvSpPr/>
          <p:nvPr/>
        </p:nvSpPr>
        <p:spPr>
          <a:xfrm>
            <a:off x="457200" y="548640"/>
            <a:ext cx="6400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2,097 transacciones que el modelo</a:t>
            </a:r>
            <a:endParaRPr lang="es-MX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nunca vio</a:t>
            </a:r>
            <a:endParaRPr lang="es-MX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3"/>
          <p:cNvSpPr/>
          <p:nvPr/>
        </p:nvSpPr>
        <p:spPr>
          <a:xfrm>
            <a:off x="457200" y="1600200"/>
            <a:ext cx="594360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7" name="Table 0"/>
          <p:cNvGraphicFramePr/>
          <p:nvPr/>
        </p:nvGraphicFramePr>
        <p:xfrm>
          <a:off x="457200" y="1737360"/>
          <a:ext cx="8229240" cy="2011680"/>
        </p:xfrm>
        <a:graphic>
          <a:graphicData uri="http://schemas.openxmlformats.org/drawingml/2006/table">
            <a:tbl>
              <a:tblPr/>
              <a:tblGrid>
                <a:gridCol w="3474720"/>
                <a:gridCol w="2011680"/>
                <a:gridCol w="1828800"/>
                <a:gridCol w="914400"/>
              </a:tblGrid>
              <a:tr h="502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pc="99" strike="noStrike">
                          <a:solidFill>
                            <a:srgbClr val="4FC3F7"/>
                          </a:solidFill>
                          <a:effectLst/>
                          <a:uFillTx/>
                          <a:latin typeface="Calibri"/>
                        </a:rPr>
                        <a:t>MODELO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pc="99" strike="noStrike">
                          <a:solidFill>
                            <a:srgbClr val="4FC3F7"/>
                          </a:solidFill>
                          <a:effectLst/>
                          <a:uFillTx/>
                          <a:latin typeface="Calibri"/>
                        </a:rPr>
                        <a:t>TASA ACIERTOS ±15%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pc="99" strike="noStrike">
                          <a:solidFill>
                            <a:srgbClr val="4FC3F7"/>
                          </a:solidFill>
                          <a:effectLst/>
                          <a:uFillTx/>
                          <a:latin typeface="Calibri"/>
                        </a:rPr>
                        <a:t>RMSE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pc="99" strike="noStrike">
                          <a:solidFill>
                            <a:srgbClr val="4FC3F7"/>
                          </a:solidFill>
                          <a:effectLst/>
                          <a:uFillTx/>
                          <a:latin typeface="Calibri"/>
                        </a:rPr>
                        <a:t>TIPO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0B1E35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Regresión Lineal Simple</a:t>
                      </a:r>
                      <a:endParaRPr lang="es-MX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1A2E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56.13%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1A2E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5.60 uds</a:t>
                      </a:r>
                      <a:endParaRPr lang="es-MX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1A2E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Baseline</a:t>
                      </a:r>
                      <a:endParaRPr lang="es-MX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1A2E48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Regresión Múltiple ★ Mejor Tasa</a:t>
                      </a:r>
                      <a:endParaRPr lang="es-MX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1A4A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AAFFAA"/>
                          </a:solidFill>
                          <a:effectLst/>
                          <a:uFillTx/>
                          <a:latin typeface="Calibri"/>
                        </a:rPr>
                        <a:t>63.47%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1A4A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5.32 uds</a:t>
                      </a:r>
                      <a:endParaRPr lang="es-MX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1A4A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Estadístico</a:t>
                      </a:r>
                      <a:endParaRPr lang="es-MX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1A4A2A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LightGBM (AutoML)</a:t>
                      </a:r>
                      <a:endParaRPr lang="es-MX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53.93%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5.53 uds</a:t>
                      </a:r>
                      <a:endParaRPr lang="es-MX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Producción</a:t>
                      </a:r>
                      <a:endParaRPr lang="es-MX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3600">
                      <a:solidFill>
                        <a:srgbClr val="334466"/>
                      </a:solidFill>
                      <a:prstDash val="solid"/>
                    </a:lnL>
                    <a:lnR w="3600">
                      <a:solidFill>
                        <a:srgbClr val="334466"/>
                      </a:solidFill>
                      <a:prstDash val="solid"/>
                    </a:lnR>
                    <a:lnT w="3600">
                      <a:solidFill>
                        <a:srgbClr val="334466"/>
                      </a:solidFill>
                      <a:prstDash val="solid"/>
                    </a:lnT>
                    <a:lnB w="3600">
                      <a:solidFill>
                        <a:srgbClr val="334466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278" name="Shape 4"/>
          <p:cNvSpPr/>
          <p:nvPr/>
        </p:nvSpPr>
        <p:spPr>
          <a:xfrm>
            <a:off x="457200" y="3840480"/>
            <a:ext cx="8229240" cy="959760"/>
          </a:xfrm>
          <a:prstGeom prst="rect">
            <a:avLst/>
          </a:prstGeom>
          <a:solidFill>
            <a:srgbClr val="1A2E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5"/>
          <p:cNvSpPr/>
          <p:nvPr/>
        </p:nvSpPr>
        <p:spPr>
          <a:xfrm>
            <a:off x="457200" y="3840480"/>
            <a:ext cx="54360" cy="959760"/>
          </a:xfrm>
          <a:prstGeom prst="rect">
            <a:avLst/>
          </a:prstGeom>
          <a:solidFill>
            <a:srgbClr val="4FC3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6"/>
          <p:cNvSpPr/>
          <p:nvPr/>
        </p:nvSpPr>
        <p:spPr>
          <a:xfrm>
            <a:off x="594360" y="3904560"/>
            <a:ext cx="8000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💡  Hallazgo honesto: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7"/>
          <p:cNvSpPr/>
          <p:nvPr/>
        </p:nvSpPr>
        <p:spPr>
          <a:xfrm>
            <a:off x="594360" y="4187880"/>
            <a:ext cx="8000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La Regresión Múltiple supera al AutoML en Tasa de Aciertos en datos sintéticos (63.47% vs 53.93%). Esto no invalida el LightGBM — en datos reales con mayor variabilidad de comportamiento humano, los modelos de ensamble son esperablemente superiores por su capacidad de capturar relaciones no lineales.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2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Text 8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  <a:ea typeface="Calibri"/>
              </a:rPr>
              <a:t>9 / 18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Image 0" descr="preencoded.png"/>
          <p:cNvPicPr/>
          <p:nvPr/>
        </p:nvPicPr>
        <p:blipFill>
          <a:blip r:embed="rId1">
            <a:alphaModFix amt="10000"/>
          </a:blip>
          <a:stretch/>
        </p:blipFill>
        <p:spPr>
          <a:xfrm>
            <a:off x="5029200" y="274320"/>
            <a:ext cx="384012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Shape 0"/>
          <p:cNvSpPr/>
          <p:nvPr/>
        </p:nvSpPr>
        <p:spPr>
          <a:xfrm>
            <a:off x="365760" y="201240"/>
            <a:ext cx="1828440" cy="255600"/>
          </a:xfrm>
          <a:prstGeom prst="roundRect">
            <a:avLst>
              <a:gd name="adj" fmla="val 17857"/>
            </a:avLst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"/>
          <p:cNvSpPr/>
          <p:nvPr/>
        </p:nvSpPr>
        <p:spPr>
          <a:xfrm>
            <a:off x="365760" y="2012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 • EXPLICABILIDAD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"/>
          <p:cNvSpPr/>
          <p:nvPr/>
        </p:nvSpPr>
        <p:spPr>
          <a:xfrm>
            <a:off x="365760" y="54864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¿Por qué predice lo que predice?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"/>
          <p:cNvSpPr/>
          <p:nvPr/>
        </p:nvSpPr>
        <p:spPr>
          <a:xfrm>
            <a:off x="365760" y="1170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SHAP — de Caja Negra a modelo interpretable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4"/>
          <p:cNvSpPr/>
          <p:nvPr/>
        </p:nvSpPr>
        <p:spPr>
          <a:xfrm>
            <a:off x="365760" y="1097280"/>
            <a:ext cx="841248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5"/>
          <p:cNvSpPr/>
          <p:nvPr/>
        </p:nvSpPr>
        <p:spPr>
          <a:xfrm>
            <a:off x="365760" y="141732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El modelo no es magia: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6"/>
          <p:cNvSpPr/>
          <p:nvPr/>
        </p:nvSpPr>
        <p:spPr>
          <a:xfrm>
            <a:off x="365760" y="1719000"/>
            <a:ext cx="4754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Las variables de mayor impacto en la predicción revelan los verdaderos drivers de demanda de Mercería Tommy — y guían qué datos recopilar primero al migrar a producción real.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7"/>
          <p:cNvSpPr/>
          <p:nvPr/>
        </p:nvSpPr>
        <p:spPr>
          <a:xfrm>
            <a:off x="365760" y="25146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Dia_Semana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8"/>
          <p:cNvSpPr/>
          <p:nvPr/>
        </p:nvSpPr>
        <p:spPr>
          <a:xfrm>
            <a:off x="2286000" y="2560320"/>
            <a:ext cx="4114440" cy="2556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9"/>
          <p:cNvSpPr/>
          <p:nvPr/>
        </p:nvSpPr>
        <p:spPr>
          <a:xfrm>
            <a:off x="2286000" y="2560320"/>
            <a:ext cx="4114440" cy="2556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0"/>
          <p:cNvSpPr/>
          <p:nvPr/>
        </p:nvSpPr>
        <p:spPr>
          <a:xfrm>
            <a:off x="6492240" y="2514600"/>
            <a:ext cx="548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100%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1"/>
          <p:cNvSpPr/>
          <p:nvPr/>
        </p:nvSpPr>
        <p:spPr>
          <a:xfrm>
            <a:off x="365760" y="29718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SKU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2"/>
          <p:cNvSpPr/>
          <p:nvPr/>
        </p:nvSpPr>
        <p:spPr>
          <a:xfrm>
            <a:off x="2286000" y="3017520"/>
            <a:ext cx="4114440" cy="2556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3"/>
          <p:cNvSpPr/>
          <p:nvPr/>
        </p:nvSpPr>
        <p:spPr>
          <a:xfrm>
            <a:off x="2286000" y="3017520"/>
            <a:ext cx="3497400" cy="2556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4"/>
          <p:cNvSpPr/>
          <p:nvPr/>
        </p:nvSpPr>
        <p:spPr>
          <a:xfrm>
            <a:off x="2286000" y="29901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C00000"/>
                </a:solidFill>
                <a:effectLst/>
                <a:uFillTx/>
                <a:latin typeface="Calibri"/>
                <a:ea typeface="Calibri"/>
              </a:rPr>
              <a:t>→ Excluido en v1 (alta cardinalidad)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5"/>
          <p:cNvSpPr/>
          <p:nvPr/>
        </p:nvSpPr>
        <p:spPr>
          <a:xfrm>
            <a:off x="6492240" y="2971800"/>
            <a:ext cx="548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85%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6"/>
          <p:cNvSpPr/>
          <p:nvPr/>
        </p:nvSpPr>
        <p:spPr>
          <a:xfrm>
            <a:off x="365760" y="34290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Mes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7"/>
          <p:cNvSpPr/>
          <p:nvPr/>
        </p:nvSpPr>
        <p:spPr>
          <a:xfrm>
            <a:off x="2286000" y="3474720"/>
            <a:ext cx="4114440" cy="2556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8"/>
          <p:cNvSpPr/>
          <p:nvPr/>
        </p:nvSpPr>
        <p:spPr>
          <a:xfrm>
            <a:off x="2286000" y="3474720"/>
            <a:ext cx="2962440" cy="2556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9"/>
          <p:cNvSpPr/>
          <p:nvPr/>
        </p:nvSpPr>
        <p:spPr>
          <a:xfrm>
            <a:off x="6492240" y="3429000"/>
            <a:ext cx="548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72%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0"/>
          <p:cNvSpPr/>
          <p:nvPr/>
        </p:nvSpPr>
        <p:spPr>
          <a:xfrm>
            <a:off x="365760" y="38862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Macro_Familia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1"/>
          <p:cNvSpPr/>
          <p:nvPr/>
        </p:nvSpPr>
        <p:spPr>
          <a:xfrm>
            <a:off x="2286000" y="3931920"/>
            <a:ext cx="4114440" cy="2556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22"/>
          <p:cNvSpPr/>
          <p:nvPr/>
        </p:nvSpPr>
        <p:spPr>
          <a:xfrm>
            <a:off x="2286000" y="3931920"/>
            <a:ext cx="2262960" cy="25560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3"/>
          <p:cNvSpPr/>
          <p:nvPr/>
        </p:nvSpPr>
        <p:spPr>
          <a:xfrm>
            <a:off x="6492240" y="3886200"/>
            <a:ext cx="548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55%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4"/>
          <p:cNvSpPr/>
          <p:nvPr/>
        </p:nvSpPr>
        <p:spPr>
          <a:xfrm>
            <a:off x="365760" y="43434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Precio_Unitario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5"/>
          <p:cNvSpPr/>
          <p:nvPr/>
        </p:nvSpPr>
        <p:spPr>
          <a:xfrm>
            <a:off x="2286000" y="4389120"/>
            <a:ext cx="4114440" cy="2556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26"/>
          <p:cNvSpPr/>
          <p:nvPr/>
        </p:nvSpPr>
        <p:spPr>
          <a:xfrm>
            <a:off x="2286000" y="4389120"/>
            <a:ext cx="1563120" cy="2556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7"/>
          <p:cNvSpPr/>
          <p:nvPr/>
        </p:nvSpPr>
        <p:spPr>
          <a:xfrm>
            <a:off x="6492240" y="4343400"/>
            <a:ext cx="548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38%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8"/>
          <p:cNvSpPr/>
          <p:nvPr/>
        </p:nvSpPr>
        <p:spPr>
          <a:xfrm>
            <a:off x="365760" y="4645080"/>
            <a:ext cx="5028840" cy="347040"/>
          </a:xfrm>
          <a:prstGeom prst="rect">
            <a:avLst/>
          </a:prstGeom>
          <a:solidFill>
            <a:srgbClr val="D5F0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9"/>
          <p:cNvSpPr/>
          <p:nvPr/>
        </p:nvSpPr>
        <p:spPr>
          <a:xfrm>
            <a:off x="457200" y="464508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6B3C"/>
                </a:solidFill>
                <a:effectLst/>
                <a:uFillTx/>
                <a:latin typeface="Calibri"/>
                <a:ea typeface="Calibri"/>
              </a:rPr>
              <a:t>En producción: Dia_Semana y Mes son los drivers principales → fáciles de capturar sin cambios operativos.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5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Text 30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 / 18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Image 0" descr="preencoded.png"/>
          <p:cNvPicPr/>
          <p:nvPr/>
        </p:nvPicPr>
        <p:blipFill>
          <a:blip r:embed="rId1">
            <a:alphaModFix amt="17000"/>
          </a:blip>
          <a:stretch/>
        </p:blipFill>
        <p:spPr>
          <a:xfrm>
            <a:off x="5486400" y="-457200"/>
            <a:ext cx="4114440" cy="621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"/>
          <p:cNvSpPr/>
          <p:nvPr/>
        </p:nvSpPr>
        <p:spPr>
          <a:xfrm>
            <a:off x="457200" y="274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D4A017"/>
                </a:solidFill>
                <a:effectLst/>
                <a:uFillTx/>
                <a:latin typeface="Calibri"/>
                <a:ea typeface="Calibri"/>
              </a:rPr>
              <a:t>06 • IMPACTO FINANCIERO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"/>
          <p:cNvSpPr/>
          <p:nvPr/>
        </p:nvSpPr>
        <p:spPr>
          <a:xfrm>
            <a:off x="457200" y="530280"/>
            <a:ext cx="6857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 modelo libera capital</a:t>
            </a:r>
            <a:endParaRPr lang="es-MX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 lugar de inmovilizarlo</a:t>
            </a:r>
            <a:endParaRPr lang="es-MX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3"/>
          <p:cNvSpPr/>
          <p:nvPr/>
        </p:nvSpPr>
        <p:spPr>
          <a:xfrm>
            <a:off x="457200" y="1463040"/>
            <a:ext cx="5943600" cy="360"/>
          </a:xfrm>
          <a:prstGeom prst="line">
            <a:avLst/>
          </a:prstGeom>
          <a:ln w="12700">
            <a:solidFill>
              <a:srgbClr val="D4A0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"/>
          <p:cNvSpPr/>
          <p:nvPr/>
        </p:nvSpPr>
        <p:spPr>
          <a:xfrm>
            <a:off x="457200" y="1572840"/>
            <a:ext cx="45716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$181,496</a:t>
            </a:r>
            <a:endParaRPr lang="es-MX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5"/>
          <p:cNvSpPr/>
          <p:nvPr/>
        </p:nvSpPr>
        <p:spPr>
          <a:xfrm>
            <a:off x="457200" y="254196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MXN liberados en capital de trabajo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bajo el supuesto base de +40% de sobre-pedido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6"/>
          <p:cNvSpPr/>
          <p:nvPr/>
        </p:nvSpPr>
        <p:spPr>
          <a:xfrm>
            <a:off x="457200" y="3200400"/>
            <a:ext cx="1919880" cy="1299600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7"/>
          <p:cNvSpPr/>
          <p:nvPr/>
        </p:nvSpPr>
        <p:spPr>
          <a:xfrm>
            <a:off x="457200" y="3200400"/>
            <a:ext cx="1919880" cy="54360"/>
          </a:xfrm>
          <a:prstGeom prst="rect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8"/>
          <p:cNvSpPr/>
          <p:nvPr/>
        </p:nvSpPr>
        <p:spPr>
          <a:xfrm>
            <a:off x="548640" y="329184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2,039</a:t>
            </a:r>
            <a:endParaRPr lang="es-MX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9"/>
          <p:cNvSpPr/>
          <p:nvPr/>
        </p:nvSpPr>
        <p:spPr>
          <a:xfrm>
            <a:off x="548640" y="391356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Unidades sobre-stock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evitadas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0"/>
          <p:cNvSpPr/>
          <p:nvPr/>
        </p:nvSpPr>
        <p:spPr>
          <a:xfrm>
            <a:off x="2560320" y="3200400"/>
            <a:ext cx="1919880" cy="1299600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1"/>
          <p:cNvSpPr/>
          <p:nvPr/>
        </p:nvSpPr>
        <p:spPr>
          <a:xfrm>
            <a:off x="2560320" y="3200400"/>
            <a:ext cx="1919880" cy="54360"/>
          </a:xfrm>
          <a:prstGeom prst="rect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2"/>
          <p:cNvSpPr/>
          <p:nvPr/>
        </p:nvSpPr>
        <p:spPr>
          <a:xfrm>
            <a:off x="2651760" y="329184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$27,224</a:t>
            </a:r>
            <a:endParaRPr lang="es-MX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3"/>
          <p:cNvSpPr/>
          <p:nvPr/>
        </p:nvSpPr>
        <p:spPr>
          <a:xfrm>
            <a:off x="2651760" y="391356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Ahorro Holding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Cost (MXN)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4"/>
          <p:cNvSpPr/>
          <p:nvPr/>
        </p:nvSpPr>
        <p:spPr>
          <a:xfrm>
            <a:off x="4663440" y="3200400"/>
            <a:ext cx="1919880" cy="1299600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5"/>
          <p:cNvSpPr/>
          <p:nvPr/>
        </p:nvSpPr>
        <p:spPr>
          <a:xfrm>
            <a:off x="4663440" y="3200400"/>
            <a:ext cx="1919880" cy="54360"/>
          </a:xfrm>
          <a:prstGeom prst="rect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6"/>
          <p:cNvSpPr/>
          <p:nvPr/>
        </p:nvSpPr>
        <p:spPr>
          <a:xfrm>
            <a:off x="4754880" y="329184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+30%</a:t>
            </a:r>
            <a:endParaRPr lang="es-MX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7"/>
          <p:cNvSpPr/>
          <p:nvPr/>
        </p:nvSpPr>
        <p:spPr>
          <a:xfrm>
            <a:off x="4754880" y="391356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Umbral de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rentabilidad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8"/>
          <p:cNvSpPr/>
          <p:nvPr/>
        </p:nvSpPr>
        <p:spPr>
          <a:xfrm>
            <a:off x="6766560" y="3200400"/>
            <a:ext cx="1919880" cy="1299600"/>
          </a:xfrm>
          <a:prstGeom prst="rect">
            <a:avLst/>
          </a:prstGeom>
          <a:solidFill>
            <a:schemeClr val="bg1">
              <a:lumMod val="50000"/>
            </a:schemeClr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9"/>
          <p:cNvSpPr/>
          <p:nvPr/>
        </p:nvSpPr>
        <p:spPr>
          <a:xfrm>
            <a:off x="6766560" y="3200400"/>
            <a:ext cx="1919880" cy="54360"/>
          </a:xfrm>
          <a:prstGeom prst="rect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0"/>
          <p:cNvSpPr/>
          <p:nvPr/>
        </p:nvSpPr>
        <p:spPr>
          <a:xfrm>
            <a:off x="6858000" y="3291840"/>
            <a:ext cx="1737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 de 8</a:t>
            </a:r>
            <a:endParaRPr lang="es-MX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1"/>
          <p:cNvSpPr/>
          <p:nvPr/>
        </p:nvSpPr>
        <p:spPr>
          <a:xfrm>
            <a:off x="6858000" y="391356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Escenarios con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ROI positivo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0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Text 22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  <a:ea typeface="Calibri"/>
              </a:rPr>
              <a:t>11 / 18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Image 0" descr="preencoded.png"/>
          <p:cNvPicPr/>
          <p:nvPr/>
        </p:nvPicPr>
        <p:blipFill>
          <a:blip r:embed="rId1">
            <a:alphaModFix amt="9000"/>
          </a:blip>
          <a:stretch/>
        </p:blipFill>
        <p:spPr>
          <a:xfrm>
            <a:off x="5943600" y="457200"/>
            <a:ext cx="310860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Shape 0"/>
          <p:cNvSpPr/>
          <p:nvPr/>
        </p:nvSpPr>
        <p:spPr>
          <a:xfrm>
            <a:off x="365760" y="201240"/>
            <a:ext cx="1828440" cy="255600"/>
          </a:xfrm>
          <a:prstGeom prst="roundRect">
            <a:avLst>
              <a:gd name="adj" fmla="val 17857"/>
            </a:avLst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"/>
          <p:cNvSpPr/>
          <p:nvPr/>
        </p:nvSpPr>
        <p:spPr>
          <a:xfrm>
            <a:off x="365760" y="2012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 • ANÁLISIS DE SENSIBILIDAD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"/>
          <p:cNvSpPr/>
          <p:nvPr/>
        </p:nvSpPr>
        <p:spPr>
          <a:xfrm>
            <a:off x="365760" y="54864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ROI robusto en 6 de 8 escenarios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"/>
          <p:cNvSpPr/>
          <p:nvPr/>
        </p:nvSpPr>
        <p:spPr>
          <a:xfrm>
            <a:off x="365760" y="1170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Incluyendo errores de sistema: pedido doble y triple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4"/>
          <p:cNvSpPr/>
          <p:nvPr/>
        </p:nvSpPr>
        <p:spPr>
          <a:xfrm>
            <a:off x="365760" y="1097280"/>
            <a:ext cx="841248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8" name="Chart 0"/>
          <p:cNvGraphicFramePr/>
          <p:nvPr/>
        </p:nvGraphicFramePr>
        <p:xfrm>
          <a:off x="365760" y="1417320"/>
          <a:ext cx="5303160" cy="3520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9" name="Shape 5"/>
          <p:cNvSpPr/>
          <p:nvPr/>
        </p:nvSpPr>
        <p:spPr>
          <a:xfrm>
            <a:off x="5852160" y="1417320"/>
            <a:ext cx="2880000" cy="3520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6"/>
          <p:cNvSpPr/>
          <p:nvPr/>
        </p:nvSpPr>
        <p:spPr>
          <a:xfrm>
            <a:off x="5852160" y="1417320"/>
            <a:ext cx="2880000" cy="5436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7"/>
          <p:cNvSpPr/>
          <p:nvPr/>
        </p:nvSpPr>
        <p:spPr>
          <a:xfrm>
            <a:off x="5961960" y="150876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Lectura del gráfico: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8"/>
          <p:cNvSpPr/>
          <p:nvPr/>
        </p:nvSpPr>
        <p:spPr>
          <a:xfrm>
            <a:off x="5961960" y="1901880"/>
            <a:ext cx="292320" cy="292320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9"/>
          <p:cNvSpPr/>
          <p:nvPr/>
        </p:nvSpPr>
        <p:spPr>
          <a:xfrm>
            <a:off x="5961960" y="19018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NEG</a:t>
            </a:r>
            <a:endParaRPr lang="es-MX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0"/>
          <p:cNvSpPr/>
          <p:nvPr/>
        </p:nvSpPr>
        <p:spPr>
          <a:xfrm>
            <a:off x="6309360" y="187452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Rojo: ROI negativo (&lt;+20%)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El modelo no compensa si el dueño sobre-pide menos del 30%.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1"/>
          <p:cNvSpPr/>
          <p:nvPr/>
        </p:nvSpPr>
        <p:spPr>
          <a:xfrm>
            <a:off x="5961960" y="2651760"/>
            <a:ext cx="292320" cy="292320"/>
          </a:xfrm>
          <a:prstGeom prst="ellipse">
            <a:avLst/>
          </a:prstGeom>
          <a:solidFill>
            <a:srgbClr val="1E6B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2"/>
          <p:cNvSpPr/>
          <p:nvPr/>
        </p:nvSpPr>
        <p:spPr>
          <a:xfrm>
            <a:off x="5961960" y="26517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</a:t>
            </a:r>
            <a:endParaRPr lang="es-MX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3"/>
          <p:cNvSpPr/>
          <p:nvPr/>
        </p:nvSpPr>
        <p:spPr>
          <a:xfrm>
            <a:off x="6309360" y="262440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Verde: umbral de rentabilidad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Desde +30% el capital liberado es positivo.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4"/>
          <p:cNvSpPr/>
          <p:nvPr/>
        </p:nvSpPr>
        <p:spPr>
          <a:xfrm>
            <a:off x="5961960" y="3401640"/>
            <a:ext cx="292320" cy="29232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5"/>
          <p:cNvSpPr/>
          <p:nvPr/>
        </p:nvSpPr>
        <p:spPr>
          <a:xfrm>
            <a:off x="5961960" y="34016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</a:t>
            </a:r>
            <a:endParaRPr lang="es-MX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6"/>
          <p:cNvSpPr/>
          <p:nvPr/>
        </p:nvSpPr>
        <p:spPr>
          <a:xfrm>
            <a:off x="6309360" y="337428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Azul: zona operativa habitual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+40% supuesto base → $181K MXN liberados.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7"/>
          <p:cNvSpPr/>
          <p:nvPr/>
        </p:nvSpPr>
        <p:spPr>
          <a:xfrm>
            <a:off x="5961960" y="4151520"/>
            <a:ext cx="292320" cy="292320"/>
          </a:xfrm>
          <a:prstGeom prst="ellipse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8"/>
          <p:cNvSpPr/>
          <p:nvPr/>
        </p:nvSpPr>
        <p:spPr>
          <a:xfrm>
            <a:off x="5961960" y="4151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ERR</a:t>
            </a:r>
            <a:endParaRPr lang="es-MX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9"/>
          <p:cNvSpPr/>
          <p:nvPr/>
        </p:nvSpPr>
        <p:spPr>
          <a:xfrm>
            <a:off x="6309360" y="412380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Amarillo: error de sistema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+100%/+200% = pedido duplicado/triplicado → alerta crítica.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4" name="Image 1" descr="preencoded.png"/>
          <p:cNvPicPr/>
          <p:nvPr/>
        </p:nvPicPr>
        <p:blipFill>
          <a:blip r:embed="rId3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Text 20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12 / 18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Image 0" descr="preencoded.png"/>
          <p:cNvPicPr/>
          <p:nvPr/>
        </p:nvPicPr>
        <p:blipFill>
          <a:blip r:embed="rId1">
            <a:alphaModFix amt="11000"/>
          </a:blip>
          <a:stretch/>
        </p:blipFill>
        <p:spPr>
          <a:xfrm>
            <a:off x="5303520" y="274320"/>
            <a:ext cx="3657240" cy="46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Shape 0"/>
          <p:cNvSpPr/>
          <p:nvPr/>
        </p:nvSpPr>
        <p:spPr>
          <a:xfrm>
            <a:off x="365760" y="201240"/>
            <a:ext cx="1828440" cy="255600"/>
          </a:xfrm>
          <a:prstGeom prst="roundRect">
            <a:avLst>
              <a:gd name="adj" fmla="val 17857"/>
            </a:avLst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"/>
          <p:cNvSpPr/>
          <p:nvPr/>
        </p:nvSpPr>
        <p:spPr>
          <a:xfrm>
            <a:off x="365760" y="2012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 • DASHBOARD POWER BI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"/>
          <p:cNvSpPr/>
          <p:nvPr/>
        </p:nvSpPr>
        <p:spPr>
          <a:xfrm>
            <a:off x="365760" y="54864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Dashboard Prescriptivo — 3 páginas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3"/>
          <p:cNvSpPr/>
          <p:nvPr/>
        </p:nvSpPr>
        <p:spPr>
          <a:xfrm>
            <a:off x="365760" y="1170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Diseño inspirado en el Carnaval de Tlaxcala — adoptado sin resistencia cultural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4"/>
          <p:cNvSpPr/>
          <p:nvPr/>
        </p:nvSpPr>
        <p:spPr>
          <a:xfrm>
            <a:off x="365760" y="1097280"/>
            <a:ext cx="841248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5"/>
          <p:cNvSpPr/>
          <p:nvPr/>
        </p:nvSpPr>
        <p:spPr>
          <a:xfrm>
            <a:off x="365760" y="1417320"/>
            <a:ext cx="2651400" cy="3082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6"/>
          <p:cNvSpPr/>
          <p:nvPr/>
        </p:nvSpPr>
        <p:spPr>
          <a:xfrm>
            <a:off x="365760" y="1417320"/>
            <a:ext cx="2651400" cy="34704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7"/>
          <p:cNvSpPr/>
          <p:nvPr/>
        </p:nvSpPr>
        <p:spPr>
          <a:xfrm>
            <a:off x="457200" y="14356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PÁGINA  1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8"/>
          <p:cNvSpPr/>
          <p:nvPr/>
        </p:nvSpPr>
        <p:spPr>
          <a:xfrm>
            <a:off x="457200" y="184716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Home</a:t>
            </a:r>
            <a:endParaRPr lang="es-MX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9"/>
          <p:cNvSpPr/>
          <p:nvPr/>
        </p:nvSpPr>
        <p:spPr>
          <a:xfrm>
            <a:off x="457200" y="22676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Portada de navegación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0"/>
          <p:cNvSpPr/>
          <p:nvPr/>
        </p:nvSpPr>
        <p:spPr>
          <a:xfrm>
            <a:off x="457200" y="2560320"/>
            <a:ext cx="24688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1"/>
          <p:cNvSpPr/>
          <p:nvPr/>
        </p:nvSpPr>
        <p:spPr>
          <a:xfrm>
            <a:off x="457200" y="2651760"/>
            <a:ext cx="24685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Identidad visual — máscaras de huehue, Tlaxcala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Logo institucional Tec / TLG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Navegación interactiva entre páginas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2"/>
          <p:cNvSpPr/>
          <p:nvPr/>
        </p:nvSpPr>
        <p:spPr>
          <a:xfrm>
            <a:off x="3246120" y="1417320"/>
            <a:ext cx="2651400" cy="3082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3"/>
          <p:cNvSpPr/>
          <p:nvPr/>
        </p:nvSpPr>
        <p:spPr>
          <a:xfrm>
            <a:off x="3246120" y="1417320"/>
            <a:ext cx="2651400" cy="34704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4"/>
          <p:cNvSpPr/>
          <p:nvPr/>
        </p:nvSpPr>
        <p:spPr>
          <a:xfrm>
            <a:off x="3337560" y="14356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PÁGINA  2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5"/>
          <p:cNvSpPr/>
          <p:nvPr/>
        </p:nvSpPr>
        <p:spPr>
          <a:xfrm>
            <a:off x="3337560" y="184716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Diagnóstico</a:t>
            </a:r>
            <a:endParaRPr lang="es-MX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6"/>
          <p:cNvSpPr/>
          <p:nvPr/>
        </p:nvSpPr>
        <p:spPr>
          <a:xfrm>
            <a:off x="3337560" y="22676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Evaluación Histórica 2022–2026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7"/>
          <p:cNvSpPr/>
          <p:nvPr/>
        </p:nvSpPr>
        <p:spPr>
          <a:xfrm>
            <a:off x="3337560" y="2560320"/>
            <a:ext cx="24688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8"/>
          <p:cNvSpPr/>
          <p:nvPr/>
        </p:nvSpPr>
        <p:spPr>
          <a:xfrm>
            <a:off x="3337560" y="2651760"/>
            <a:ext cx="24685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KPIs: $43.4M bruto | 30,435 quiebres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Donut: Tipo de Color (Especiales 70.57%)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Barras: Venta Perdida por Material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9"/>
          <p:cNvSpPr/>
          <p:nvPr/>
        </p:nvSpPr>
        <p:spPr>
          <a:xfrm>
            <a:off x="6126480" y="1417320"/>
            <a:ext cx="2651400" cy="3082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0"/>
          <p:cNvSpPr/>
          <p:nvPr/>
        </p:nvSpPr>
        <p:spPr>
          <a:xfrm>
            <a:off x="6126480" y="1417320"/>
            <a:ext cx="2651400" cy="34704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1"/>
          <p:cNvSpPr/>
          <p:nvPr/>
        </p:nvSpPr>
        <p:spPr>
          <a:xfrm>
            <a:off x="6217920" y="14356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PÁGINA  3</a:t>
            </a:r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2"/>
          <p:cNvSpPr/>
          <p:nvPr/>
        </p:nvSpPr>
        <p:spPr>
          <a:xfrm>
            <a:off x="6217920" y="184716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Optimización</a:t>
            </a:r>
            <a:endParaRPr lang="es-MX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3"/>
          <p:cNvSpPr/>
          <p:nvPr/>
        </p:nvSpPr>
        <p:spPr>
          <a:xfrm>
            <a:off x="6217920" y="22676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Prescripción ML (Carnaval 2026)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24"/>
          <p:cNvSpPr/>
          <p:nvPr/>
        </p:nvSpPr>
        <p:spPr>
          <a:xfrm>
            <a:off x="6217920" y="2560320"/>
            <a:ext cx="24688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5"/>
          <p:cNvSpPr/>
          <p:nvPr/>
        </p:nvSpPr>
        <p:spPr>
          <a:xfrm>
            <a:off x="6217920" y="2651760"/>
            <a:ext cx="24685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Semáforo 🟢🟡🔴 — lista de compra priorizada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Inversión Sugerida: $148,841 MXN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Ganancia Proyectada: $606,564 MXN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3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Text 26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13 / 18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Image 0" descr="preencoded.png"/>
          <p:cNvPicPr/>
          <p:nvPr/>
        </p:nvPicPr>
        <p:blipFill>
          <a:blip r:embed="rId1">
            <a:alphaModFix amt="10000"/>
          </a:blip>
          <a:stretch/>
        </p:blipFill>
        <p:spPr>
          <a:xfrm>
            <a:off x="5486400" y="365760"/>
            <a:ext cx="365724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Shape 0"/>
          <p:cNvSpPr/>
          <p:nvPr/>
        </p:nvSpPr>
        <p:spPr>
          <a:xfrm>
            <a:off x="365760" y="201240"/>
            <a:ext cx="1828440" cy="255600"/>
          </a:xfrm>
          <a:prstGeom prst="roundRect">
            <a:avLst>
              <a:gd name="adj" fmla="val 17857"/>
            </a:avLst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"/>
          <p:cNvSpPr/>
          <p:nvPr/>
        </p:nvSpPr>
        <p:spPr>
          <a:xfrm>
            <a:off x="365760" y="2012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 • SEMÁFORO PRESCRIPTIVO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"/>
          <p:cNvSpPr/>
          <p:nvPr/>
        </p:nvSpPr>
        <p:spPr>
          <a:xfrm>
            <a:off x="365760" y="54864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La dueña actúa — sin conocer ML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3"/>
          <p:cNvSpPr/>
          <p:nvPr/>
        </p:nvSpPr>
        <p:spPr>
          <a:xfrm>
            <a:off x="365760" y="1170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Formato condicional de 3 colores basado en percentiles del rango de predicción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4"/>
          <p:cNvSpPr/>
          <p:nvPr/>
        </p:nvSpPr>
        <p:spPr>
          <a:xfrm>
            <a:off x="365760" y="1097280"/>
            <a:ext cx="841248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5"/>
          <p:cNvSpPr/>
          <p:nvPr/>
        </p:nvSpPr>
        <p:spPr>
          <a:xfrm>
            <a:off x="365760" y="1417320"/>
            <a:ext cx="8229240" cy="987120"/>
          </a:xfrm>
          <a:prstGeom prst="rect">
            <a:avLst/>
          </a:prstGeom>
          <a:solidFill>
            <a:srgbClr val="D5F0E0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6"/>
          <p:cNvSpPr/>
          <p:nvPr/>
        </p:nvSpPr>
        <p:spPr>
          <a:xfrm>
            <a:off x="365760" y="1417320"/>
            <a:ext cx="54360" cy="987120"/>
          </a:xfrm>
          <a:prstGeom prst="rect">
            <a:avLst/>
          </a:prstGeom>
          <a:solidFill>
            <a:srgbClr val="1E6B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7"/>
          <p:cNvSpPr/>
          <p:nvPr/>
        </p:nvSpPr>
        <p:spPr>
          <a:xfrm>
            <a:off x="530280" y="1618560"/>
            <a:ext cx="566640" cy="566640"/>
          </a:xfrm>
          <a:prstGeom prst="ellipse">
            <a:avLst/>
          </a:prstGeom>
          <a:solidFill>
            <a:srgbClr val="2ECC71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8"/>
          <p:cNvSpPr/>
          <p:nvPr/>
        </p:nvSpPr>
        <p:spPr>
          <a:xfrm>
            <a:off x="1207080" y="149040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6B3C"/>
                </a:solidFill>
                <a:effectLst/>
                <a:uFillTx/>
                <a:latin typeface="Calibri"/>
                <a:ea typeface="Calibri"/>
              </a:rPr>
              <a:t>Stock Sano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9"/>
          <p:cNvSpPr/>
          <p:nvPr/>
        </p:nvSpPr>
        <p:spPr>
          <a:xfrm>
            <a:off x="1207080" y="192024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0% – 33% del rango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0"/>
          <p:cNvSpPr/>
          <p:nvPr/>
        </p:nvSpPr>
        <p:spPr>
          <a:xfrm>
            <a:off x="3520440" y="1554480"/>
            <a:ext cx="360" cy="7131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1"/>
          <p:cNvSpPr/>
          <p:nvPr/>
        </p:nvSpPr>
        <p:spPr>
          <a:xfrm>
            <a:off x="3657600" y="1645920"/>
            <a:ext cx="475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No comprar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2"/>
          <p:cNvSpPr/>
          <p:nvPr/>
        </p:nvSpPr>
        <p:spPr>
          <a:xfrm>
            <a:off x="365760" y="2532960"/>
            <a:ext cx="8229240" cy="987120"/>
          </a:xfrm>
          <a:prstGeom prst="rect">
            <a:avLst/>
          </a:prstGeom>
          <a:solidFill>
            <a:srgbClr val="FFF2CC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3"/>
          <p:cNvSpPr/>
          <p:nvPr/>
        </p:nvSpPr>
        <p:spPr>
          <a:xfrm>
            <a:off x="365760" y="2532960"/>
            <a:ext cx="54360" cy="987120"/>
          </a:xfrm>
          <a:prstGeom prst="rect">
            <a:avLst/>
          </a:prstGeom>
          <a:solidFill>
            <a:srgbClr val="8B6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4"/>
          <p:cNvSpPr/>
          <p:nvPr/>
        </p:nvSpPr>
        <p:spPr>
          <a:xfrm>
            <a:off x="530280" y="2734200"/>
            <a:ext cx="566640" cy="566640"/>
          </a:xfrm>
          <a:prstGeom prst="ellipse">
            <a:avLst/>
          </a:prstGeom>
          <a:solidFill>
            <a:srgbClr val="F1C40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5"/>
          <p:cNvSpPr/>
          <p:nvPr/>
        </p:nvSpPr>
        <p:spPr>
          <a:xfrm>
            <a:off x="1207080" y="260604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B6000"/>
                </a:solidFill>
                <a:effectLst/>
                <a:uFillTx/>
                <a:latin typeface="Calibri"/>
                <a:ea typeface="Calibri"/>
              </a:rPr>
              <a:t>Alerta Baja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6"/>
          <p:cNvSpPr/>
          <p:nvPr/>
        </p:nvSpPr>
        <p:spPr>
          <a:xfrm>
            <a:off x="1207080" y="30358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34% – 66% del rango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7"/>
          <p:cNvSpPr/>
          <p:nvPr/>
        </p:nvSpPr>
        <p:spPr>
          <a:xfrm>
            <a:off x="3520440" y="2669760"/>
            <a:ext cx="360" cy="71352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8"/>
          <p:cNvSpPr/>
          <p:nvPr/>
        </p:nvSpPr>
        <p:spPr>
          <a:xfrm>
            <a:off x="3657600" y="2761560"/>
            <a:ext cx="475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Compra preventiva opcional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9"/>
          <p:cNvSpPr/>
          <p:nvPr/>
        </p:nvSpPr>
        <p:spPr>
          <a:xfrm>
            <a:off x="365760" y="3648600"/>
            <a:ext cx="8229240" cy="987120"/>
          </a:xfrm>
          <a:prstGeom prst="rect">
            <a:avLst/>
          </a:prstGeom>
          <a:solidFill>
            <a:srgbClr val="FFE0E0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20"/>
          <p:cNvSpPr/>
          <p:nvPr/>
        </p:nvSpPr>
        <p:spPr>
          <a:xfrm>
            <a:off x="365760" y="3648600"/>
            <a:ext cx="54360" cy="987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21"/>
          <p:cNvSpPr/>
          <p:nvPr/>
        </p:nvSpPr>
        <p:spPr>
          <a:xfrm>
            <a:off x="530280" y="3849480"/>
            <a:ext cx="566640" cy="566640"/>
          </a:xfrm>
          <a:prstGeom prst="ellipse">
            <a:avLst/>
          </a:prstGeom>
          <a:solidFill>
            <a:srgbClr val="E74C3C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22"/>
          <p:cNvSpPr/>
          <p:nvPr/>
        </p:nvSpPr>
        <p:spPr>
          <a:xfrm>
            <a:off x="1207080" y="37216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00000"/>
                </a:solidFill>
                <a:effectLst/>
                <a:uFillTx/>
                <a:latin typeface="Calibri"/>
                <a:ea typeface="Calibri"/>
              </a:rPr>
              <a:t>Urgencia Crítica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23"/>
          <p:cNvSpPr/>
          <p:nvPr/>
        </p:nvSpPr>
        <p:spPr>
          <a:xfrm>
            <a:off x="1207080" y="415152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67% – 100% del rango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24"/>
          <p:cNvSpPr/>
          <p:nvPr/>
        </p:nvSpPr>
        <p:spPr>
          <a:xfrm>
            <a:off x="3520440" y="3785400"/>
            <a:ext cx="360" cy="7131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25"/>
          <p:cNvSpPr/>
          <p:nvPr/>
        </p:nvSpPr>
        <p:spPr>
          <a:xfrm>
            <a:off x="3657600" y="3877200"/>
            <a:ext cx="475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Compra inmediata — riesgo de quiebre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26"/>
          <p:cNvSpPr/>
          <p:nvPr/>
        </p:nvSpPr>
        <p:spPr>
          <a:xfrm>
            <a:off x="365760" y="4617720"/>
            <a:ext cx="8229240" cy="383760"/>
          </a:xfrm>
          <a:prstGeom prst="rect">
            <a:avLst/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7"/>
          <p:cNvSpPr/>
          <p:nvPr/>
        </p:nvSpPr>
        <p:spPr>
          <a:xfrm>
            <a:off x="457200" y="46177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URGENCIA  Carnaval 2026:  Pedrería Cristal (1,581 uds)  ·  Pedrería Acrílico (1,545 uds)  ·  Lentejuela Plana Laser (834 uds)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4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Text 28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14 / 18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Image 0" descr="preencoded.png"/>
          <p:cNvPicPr/>
          <p:nvPr/>
        </p:nvPicPr>
        <p:blipFill>
          <a:blip r:embed="rId1">
            <a:alphaModFix amt="9000"/>
          </a:blip>
          <a:stretch/>
        </p:blipFill>
        <p:spPr>
          <a:xfrm>
            <a:off x="5029200" y="365760"/>
            <a:ext cx="393156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Shape 0"/>
          <p:cNvSpPr/>
          <p:nvPr/>
        </p:nvSpPr>
        <p:spPr>
          <a:xfrm>
            <a:off x="365760" y="201240"/>
            <a:ext cx="1828440" cy="255600"/>
          </a:xfrm>
          <a:prstGeom prst="roundRect">
            <a:avLst>
              <a:gd name="adj" fmla="val 17857"/>
            </a:avLst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"/>
          <p:cNvSpPr/>
          <p:nvPr/>
        </p:nvSpPr>
        <p:spPr>
          <a:xfrm>
            <a:off x="365760" y="2012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 • INTEGRACIÓN TÉCNICA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"/>
          <p:cNvSpPr/>
          <p:nvPr/>
        </p:nvSpPr>
        <p:spPr>
          <a:xfrm>
            <a:off x="365760" y="54864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Pipeline Python → Power BI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3"/>
          <p:cNvSpPr/>
          <p:nvPr/>
        </p:nvSpPr>
        <p:spPr>
          <a:xfrm>
            <a:off x="365760" y="1170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El modelo en producción — 5 decisiones técnicas que lo hacen posible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4"/>
          <p:cNvSpPr/>
          <p:nvPr/>
        </p:nvSpPr>
        <p:spPr>
          <a:xfrm>
            <a:off x="365760" y="1097280"/>
            <a:ext cx="841248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5"/>
          <p:cNvSpPr/>
          <p:nvPr/>
        </p:nvSpPr>
        <p:spPr>
          <a:xfrm>
            <a:off x="365760" y="1417320"/>
            <a:ext cx="411120" cy="57132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6"/>
          <p:cNvSpPr/>
          <p:nvPr/>
        </p:nvSpPr>
        <p:spPr>
          <a:xfrm>
            <a:off x="365760" y="1417320"/>
            <a:ext cx="4111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7"/>
          <p:cNvSpPr/>
          <p:nvPr/>
        </p:nvSpPr>
        <p:spPr>
          <a:xfrm>
            <a:off x="777240" y="1417320"/>
            <a:ext cx="7954920" cy="571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8"/>
          <p:cNvSpPr/>
          <p:nvPr/>
        </p:nvSpPr>
        <p:spPr>
          <a:xfrm>
            <a:off x="914400" y="1467720"/>
            <a:ext cx="2285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Exportación .pkl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9"/>
          <p:cNvSpPr/>
          <p:nvPr/>
        </p:nvSpPr>
        <p:spPr>
          <a:xfrm>
            <a:off x="914400" y="1711800"/>
            <a:ext cx="76806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save_model() de PyCaret genera GEMELO_DIGITAL_MODELO_PRODUCCION.pkl — pipeline completo incluyendo todas las transformaciones del preprocesamiento.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10"/>
          <p:cNvSpPr/>
          <p:nvPr/>
        </p:nvSpPr>
        <p:spPr>
          <a:xfrm>
            <a:off x="365760" y="2090160"/>
            <a:ext cx="411120" cy="57132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1"/>
          <p:cNvSpPr/>
          <p:nvPr/>
        </p:nvSpPr>
        <p:spPr>
          <a:xfrm>
            <a:off x="365760" y="2090160"/>
            <a:ext cx="4111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2"/>
          <p:cNvSpPr/>
          <p:nvPr/>
        </p:nvSpPr>
        <p:spPr>
          <a:xfrm>
            <a:off x="777240" y="2090160"/>
            <a:ext cx="7954920" cy="571320"/>
          </a:xfrm>
          <a:prstGeom prst="rect">
            <a:avLst/>
          </a:prstGeom>
          <a:solidFill>
            <a:srgbClr val="F4F4F8"/>
          </a:solidFill>
          <a:ln w="0">
            <a:noFill/>
          </a:ln>
          <a:effectLst>
            <a:outerShdw algn="bl" blurRad="38160" dir="8100000" dist="12218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3"/>
          <p:cNvSpPr/>
          <p:nvPr/>
        </p:nvSpPr>
        <p:spPr>
          <a:xfrm>
            <a:off x="914400" y="2140560"/>
            <a:ext cx="2285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Inferencia en Power Query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4"/>
          <p:cNvSpPr/>
          <p:nvPr/>
        </p:nvSpPr>
        <p:spPr>
          <a:xfrm>
            <a:off x="914400" y="2384640"/>
            <a:ext cx="76806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Script Python ejecuta predict_model() sobre DATASET_ML_OOT.csv generando la columna Prediccion_IA directamente en el flujo de Power BI.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5"/>
          <p:cNvSpPr/>
          <p:nvPr/>
        </p:nvSpPr>
        <p:spPr>
          <a:xfrm>
            <a:off x="365760" y="2763000"/>
            <a:ext cx="411120" cy="57132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6"/>
          <p:cNvSpPr/>
          <p:nvPr/>
        </p:nvSpPr>
        <p:spPr>
          <a:xfrm>
            <a:off x="365760" y="2763000"/>
            <a:ext cx="4111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7"/>
          <p:cNvSpPr/>
          <p:nvPr/>
        </p:nvSpPr>
        <p:spPr>
          <a:xfrm>
            <a:off x="777240" y="2763000"/>
            <a:ext cx="7954920" cy="571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8"/>
          <p:cNvSpPr/>
          <p:nvPr/>
        </p:nvSpPr>
        <p:spPr>
          <a:xfrm>
            <a:off x="914400" y="2813400"/>
            <a:ext cx="2285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Bug Microsoft.OleDb.Date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9"/>
          <p:cNvSpPr/>
          <p:nvPr/>
        </p:nvSpPr>
        <p:spPr>
          <a:xfrm>
            <a:off x="914400" y="3057120"/>
            <a:ext cx="76806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Columna Fecha convertida a texto en Power Query para resolver incompatibilidad nativa de fechas entre Python y Power BI.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20"/>
          <p:cNvSpPr/>
          <p:nvPr/>
        </p:nvSpPr>
        <p:spPr>
          <a:xfrm>
            <a:off x="365760" y="3435840"/>
            <a:ext cx="411120" cy="57132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21"/>
          <p:cNvSpPr/>
          <p:nvPr/>
        </p:nvSpPr>
        <p:spPr>
          <a:xfrm>
            <a:off x="365760" y="3435840"/>
            <a:ext cx="4111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22"/>
          <p:cNvSpPr/>
          <p:nvPr/>
        </p:nvSpPr>
        <p:spPr>
          <a:xfrm>
            <a:off x="777240" y="3435840"/>
            <a:ext cx="7954920" cy="571320"/>
          </a:xfrm>
          <a:prstGeom prst="rect">
            <a:avLst/>
          </a:prstGeom>
          <a:solidFill>
            <a:srgbClr val="F4F4F8"/>
          </a:solidFill>
          <a:ln w="0">
            <a:noFill/>
          </a:ln>
          <a:effectLst>
            <a:outerShdw algn="bl" blurRad="38160" dir="8100000" dist="12218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3"/>
          <p:cNvSpPr/>
          <p:nvPr/>
        </p:nvSpPr>
        <p:spPr>
          <a:xfrm>
            <a:off x="914400" y="3485880"/>
            <a:ext cx="2285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Anti-Producto Cartesiano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24"/>
          <p:cNvSpPr/>
          <p:nvPr/>
        </p:nvSpPr>
        <p:spPr>
          <a:xfrm>
            <a:off x="914400" y="3729960"/>
            <a:ext cx="76806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Relaciones DAX con CONTAINSSTRING entre tablas de dimensiones — garantiza jerarquía de productos sin cruces erróneos.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25"/>
          <p:cNvSpPr/>
          <p:nvPr/>
        </p:nvSpPr>
        <p:spPr>
          <a:xfrm>
            <a:off x="365760" y="4108680"/>
            <a:ext cx="411120" cy="57132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6"/>
          <p:cNvSpPr/>
          <p:nvPr/>
        </p:nvSpPr>
        <p:spPr>
          <a:xfrm>
            <a:off x="365760" y="4108680"/>
            <a:ext cx="4111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s-MX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27"/>
          <p:cNvSpPr/>
          <p:nvPr/>
        </p:nvSpPr>
        <p:spPr>
          <a:xfrm>
            <a:off x="776880" y="4107600"/>
            <a:ext cx="7954920" cy="572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8"/>
          <p:cNvSpPr/>
          <p:nvPr/>
        </p:nvSpPr>
        <p:spPr>
          <a:xfrm>
            <a:off x="914400" y="4158720"/>
            <a:ext cx="2285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Color_Hex dinámico (DAX)</a:t>
            </a:r>
            <a:endParaRPr lang="es-MX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29"/>
          <p:cNvSpPr/>
          <p:nvPr/>
        </p:nvSpPr>
        <p:spPr>
          <a:xfrm>
            <a:off x="914400" y="4402800"/>
            <a:ext cx="76806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Función SWITCH asigna códigos hexadecimales exactos a los visuales sin asignación manual — mantenible y escalable.</a:t>
            </a:r>
            <a:endParaRPr lang="es-MX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7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Text 30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15 / 18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Image 0" descr="preencoded.png"/>
          <p:cNvPicPr/>
          <p:nvPr/>
        </p:nvPicPr>
        <p:blipFill>
          <a:blip r:embed="rId1">
            <a:alphaModFix amt="20000"/>
          </a:blip>
          <a:stretch/>
        </p:blipFill>
        <p:spPr>
          <a:xfrm>
            <a:off x="5029200" y="-548640"/>
            <a:ext cx="4754520" cy="640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"/>
          <p:cNvSpPr/>
          <p:nvPr/>
        </p:nvSpPr>
        <p:spPr>
          <a:xfrm>
            <a:off x="457200" y="274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08 • CONCLUSIONES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2"/>
          <p:cNvSpPr/>
          <p:nvPr/>
        </p:nvSpPr>
        <p:spPr>
          <a:xfrm>
            <a:off x="457200" y="530280"/>
            <a:ext cx="7314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 que el modelo demostró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 datos nunca vistos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3"/>
          <p:cNvSpPr/>
          <p:nvPr/>
        </p:nvSpPr>
        <p:spPr>
          <a:xfrm>
            <a:off x="457200" y="1463040"/>
            <a:ext cx="640080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4"/>
          <p:cNvSpPr/>
          <p:nvPr/>
        </p:nvSpPr>
        <p:spPr>
          <a:xfrm>
            <a:off x="457200" y="1592280"/>
            <a:ext cx="292320" cy="29232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5"/>
          <p:cNvSpPr/>
          <p:nvPr/>
        </p:nvSpPr>
        <p:spPr>
          <a:xfrm>
            <a:off x="457200" y="15922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6"/>
          <p:cNvSpPr/>
          <p:nvPr/>
        </p:nvSpPr>
        <p:spPr>
          <a:xfrm>
            <a:off x="804600" y="15739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150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TÉCNICO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7"/>
          <p:cNvSpPr/>
          <p:nvPr/>
        </p:nvSpPr>
        <p:spPr>
          <a:xfrm>
            <a:off x="804600" y="178416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  <a:ea typeface="Calibri"/>
              </a:rPr>
              <a:t>RMSE = ±5.53 uds en OOT — error operativamente aceptable para decisiones de compra de mercería.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8"/>
          <p:cNvSpPr/>
          <p:nvPr/>
        </p:nvSpPr>
        <p:spPr>
          <a:xfrm>
            <a:off x="457200" y="2250720"/>
            <a:ext cx="292320" cy="29232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9"/>
          <p:cNvSpPr/>
          <p:nvPr/>
        </p:nvSpPr>
        <p:spPr>
          <a:xfrm>
            <a:off x="457200" y="22507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0"/>
          <p:cNvSpPr/>
          <p:nvPr/>
        </p:nvSpPr>
        <p:spPr>
          <a:xfrm>
            <a:off x="804600" y="223236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150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ESTADÍSTICO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1"/>
          <p:cNvSpPr/>
          <p:nvPr/>
        </p:nvSpPr>
        <p:spPr>
          <a:xfrm>
            <a:off x="804600" y="244260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  <a:ea typeface="Calibri"/>
              </a:rPr>
              <a:t>T = 17.30, p = 6.5×10⁻⁴² — estacionalidad Carnaval validada con significancia extrema.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2"/>
          <p:cNvSpPr/>
          <p:nvPr/>
        </p:nvSpPr>
        <p:spPr>
          <a:xfrm>
            <a:off x="457200" y="2908800"/>
            <a:ext cx="292320" cy="29232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3"/>
          <p:cNvSpPr/>
          <p:nvPr/>
        </p:nvSpPr>
        <p:spPr>
          <a:xfrm>
            <a:off x="457200" y="29088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4"/>
          <p:cNvSpPr/>
          <p:nvPr/>
        </p:nvSpPr>
        <p:spPr>
          <a:xfrm>
            <a:off x="804600" y="289080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150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GOBERNANZA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5"/>
          <p:cNvSpPr/>
          <p:nvPr/>
        </p:nvSpPr>
        <p:spPr>
          <a:xfrm>
            <a:off x="804600" y="310104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  <a:ea typeface="Calibri"/>
              </a:rPr>
              <a:t>10 variables con Data Leakage identificadas y bloqueadas — pipeline íntegro y auditable.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6"/>
          <p:cNvSpPr/>
          <p:nvPr/>
        </p:nvSpPr>
        <p:spPr>
          <a:xfrm>
            <a:off x="457200" y="3567240"/>
            <a:ext cx="292320" cy="29232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7"/>
          <p:cNvSpPr/>
          <p:nvPr/>
        </p:nvSpPr>
        <p:spPr>
          <a:xfrm>
            <a:off x="457200" y="35672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8"/>
          <p:cNvSpPr/>
          <p:nvPr/>
        </p:nvSpPr>
        <p:spPr>
          <a:xfrm>
            <a:off x="804600" y="35488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150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FINANCIERO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9"/>
          <p:cNvSpPr/>
          <p:nvPr/>
        </p:nvSpPr>
        <p:spPr>
          <a:xfrm>
            <a:off x="804600" y="37594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  <a:ea typeface="Calibri"/>
              </a:rPr>
              <a:t>$181,496 MXN liberados con el supuesto base; ROI positivo desde +30% de sobre-pedido.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0"/>
          <p:cNvSpPr/>
          <p:nvPr/>
        </p:nvSpPr>
        <p:spPr>
          <a:xfrm>
            <a:off x="457200" y="4225680"/>
            <a:ext cx="292320" cy="29232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1"/>
          <p:cNvSpPr/>
          <p:nvPr/>
        </p:nvSpPr>
        <p:spPr>
          <a:xfrm>
            <a:off x="457200" y="42256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2"/>
          <p:cNvSpPr/>
          <p:nvPr/>
        </p:nvSpPr>
        <p:spPr>
          <a:xfrm>
            <a:off x="804600" y="42073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150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NEGOCIO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23"/>
          <p:cNvSpPr/>
          <p:nvPr/>
        </p:nvSpPr>
        <p:spPr>
          <a:xfrm>
            <a:off x="804600" y="441756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DEEFF"/>
                </a:solidFill>
                <a:effectLst/>
                <a:uFillTx/>
                <a:latin typeface="Calibri"/>
                <a:ea typeface="Calibri"/>
              </a:rPr>
              <a:t>Dashboard prescriptivo accionable sin conocimientos técnicos — la dueña decide con datos.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4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5" name="Text 24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  <a:ea typeface="Calibri"/>
              </a:rPr>
              <a:t>16 / 18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Image 0" descr="preencoded.png"/>
          <p:cNvPicPr/>
          <p:nvPr/>
        </p:nvPicPr>
        <p:blipFill>
          <a:blip r:embed="rId1">
            <a:alphaModFix amt="11000"/>
          </a:blip>
          <a:stretch/>
        </p:blipFill>
        <p:spPr>
          <a:xfrm>
            <a:off x="5303520" y="274320"/>
            <a:ext cx="3748680" cy="46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Shape 0"/>
          <p:cNvSpPr/>
          <p:nvPr/>
        </p:nvSpPr>
        <p:spPr>
          <a:xfrm>
            <a:off x="365760" y="201240"/>
            <a:ext cx="1828440" cy="255600"/>
          </a:xfrm>
          <a:prstGeom prst="roundRect">
            <a:avLst>
              <a:gd name="adj" fmla="val 17857"/>
            </a:avLst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1"/>
          <p:cNvSpPr/>
          <p:nvPr/>
        </p:nvSpPr>
        <p:spPr>
          <a:xfrm>
            <a:off x="365760" y="2012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08 • TRABAJO FUTURO</a:t>
            </a:r>
            <a:endParaRPr lang="es-MX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2"/>
          <p:cNvSpPr/>
          <p:nvPr/>
        </p:nvSpPr>
        <p:spPr>
          <a:xfrm>
            <a:off x="365760" y="54864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Roadmap: de Gemelo Digital a Producción Real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3"/>
          <p:cNvSpPr/>
          <p:nvPr/>
        </p:nvSpPr>
        <p:spPr>
          <a:xfrm>
            <a:off x="365760" y="1170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 fases para convertir la simulación en un activo operativo del negocio</a:t>
            </a:r>
            <a:endParaRPr lang="es-MX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4"/>
          <p:cNvSpPr/>
          <p:nvPr/>
        </p:nvSpPr>
        <p:spPr>
          <a:xfrm>
            <a:off x="365760" y="1097280"/>
            <a:ext cx="841248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5"/>
          <p:cNvSpPr/>
          <p:nvPr/>
        </p:nvSpPr>
        <p:spPr>
          <a:xfrm>
            <a:off x="365760" y="1417320"/>
            <a:ext cx="2651400" cy="3262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6"/>
          <p:cNvSpPr/>
          <p:nvPr/>
        </p:nvSpPr>
        <p:spPr>
          <a:xfrm>
            <a:off x="365760" y="1417320"/>
            <a:ext cx="2651400" cy="4752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7"/>
          <p:cNvSpPr/>
          <p:nvPr/>
        </p:nvSpPr>
        <p:spPr>
          <a:xfrm>
            <a:off x="457200" y="1497600"/>
            <a:ext cx="246852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2E75B6"/>
                </a:solidFill>
                <a:effectLst/>
                <a:uFillTx/>
                <a:latin typeface="Calibri"/>
                <a:ea typeface="Calibri"/>
              </a:rPr>
              <a:t>FASE 1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8"/>
          <p:cNvSpPr/>
          <p:nvPr/>
        </p:nvSpPr>
        <p:spPr>
          <a:xfrm>
            <a:off x="457200" y="1762200"/>
            <a:ext cx="246852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Marcha Blanca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(3–6 meses)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9"/>
          <p:cNvSpPr/>
          <p:nvPr/>
        </p:nvSpPr>
        <p:spPr>
          <a:xfrm>
            <a:off x="457200" y="2355480"/>
            <a:ext cx="2468880" cy="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0"/>
          <p:cNvSpPr/>
          <p:nvPr/>
        </p:nvSpPr>
        <p:spPr>
          <a:xfrm>
            <a:off x="457200" y="2435760"/>
            <a:ext cx="2468520" cy="188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Implementar POS o cuaderno Excel estructurado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Medir sobre-pedido real del dueño (calibrar el 40%)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Capturar al menos una temporada completa de datos reales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1"/>
          <p:cNvSpPr/>
          <p:nvPr/>
        </p:nvSpPr>
        <p:spPr>
          <a:xfrm>
            <a:off x="3108960" y="2540160"/>
            <a:ext cx="137160" cy="0"/>
          </a:xfrm>
          <a:prstGeom prst="line">
            <a:avLst/>
          </a:prstGeom>
          <a:ln w="254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2"/>
          <p:cNvSpPr/>
          <p:nvPr/>
        </p:nvSpPr>
        <p:spPr>
          <a:xfrm>
            <a:off x="3246120" y="1417320"/>
            <a:ext cx="2651400" cy="3262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3"/>
          <p:cNvSpPr/>
          <p:nvPr/>
        </p:nvSpPr>
        <p:spPr>
          <a:xfrm>
            <a:off x="3246120" y="1417320"/>
            <a:ext cx="2651400" cy="4752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4"/>
          <p:cNvSpPr/>
          <p:nvPr/>
        </p:nvSpPr>
        <p:spPr>
          <a:xfrm>
            <a:off x="3337560" y="1497600"/>
            <a:ext cx="246852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FASE 2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5"/>
          <p:cNvSpPr/>
          <p:nvPr/>
        </p:nvSpPr>
        <p:spPr>
          <a:xfrm>
            <a:off x="3337560" y="1762200"/>
            <a:ext cx="246852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Reentrenamiento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(1–2 semanas)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16"/>
          <p:cNvSpPr/>
          <p:nvPr/>
        </p:nvSpPr>
        <p:spPr>
          <a:xfrm>
            <a:off x="3337560" y="2355480"/>
            <a:ext cx="2468880" cy="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7"/>
          <p:cNvSpPr/>
          <p:nvPr/>
        </p:nvSpPr>
        <p:spPr>
          <a:xfrm>
            <a:off x="3337560" y="2435760"/>
            <a:ext cx="2468520" cy="188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Reemplazar datos sintéticos por histórico real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Reentrenar el pipeline completo con PyCaret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Validar si LightGBM sigue siendo campeón — actualizar si aplica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18"/>
          <p:cNvSpPr/>
          <p:nvPr/>
        </p:nvSpPr>
        <p:spPr>
          <a:xfrm>
            <a:off x="5989320" y="2540160"/>
            <a:ext cx="137160" cy="0"/>
          </a:xfrm>
          <a:prstGeom prst="line">
            <a:avLst/>
          </a:prstGeom>
          <a:ln w="254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19"/>
          <p:cNvSpPr/>
          <p:nvPr/>
        </p:nvSpPr>
        <p:spPr>
          <a:xfrm>
            <a:off x="6126480" y="1417320"/>
            <a:ext cx="2651400" cy="3273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20"/>
          <p:cNvSpPr/>
          <p:nvPr/>
        </p:nvSpPr>
        <p:spPr>
          <a:xfrm>
            <a:off x="6126480" y="1417320"/>
            <a:ext cx="2651400" cy="4752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21"/>
          <p:cNvSpPr/>
          <p:nvPr/>
        </p:nvSpPr>
        <p:spPr>
          <a:xfrm>
            <a:off x="6217920" y="1497600"/>
            <a:ext cx="246852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2E75B6"/>
                </a:solidFill>
                <a:effectLst/>
                <a:uFillTx/>
                <a:latin typeface="Calibri"/>
                <a:ea typeface="Calibri"/>
              </a:rPr>
              <a:t>FASE 3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22"/>
          <p:cNvSpPr/>
          <p:nvPr/>
        </p:nvSpPr>
        <p:spPr>
          <a:xfrm>
            <a:off x="6217920" y="1762200"/>
            <a:ext cx="246852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545"/>
                </a:solidFill>
                <a:effectLst/>
                <a:uFillTx/>
                <a:latin typeface="Calibri"/>
                <a:ea typeface="Calibri"/>
              </a:rPr>
              <a:t>Monitoreo Continuo</a:t>
            </a:r>
            <a:endParaRPr lang="es-MX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23"/>
          <p:cNvSpPr/>
          <p:nvPr/>
        </p:nvSpPr>
        <p:spPr>
          <a:xfrm>
            <a:off x="6217920" y="2355480"/>
            <a:ext cx="2468880" cy="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24"/>
          <p:cNvSpPr/>
          <p:nvPr/>
        </p:nvSpPr>
        <p:spPr>
          <a:xfrm>
            <a:off x="6217920" y="2435760"/>
            <a:ext cx="2468520" cy="188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Alertas de Data Drift — desviación estadística del modelo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Reentrenamiento semestral programado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&gt;  Incorporar Lead_Time_Proveedor como predictor con datos reales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25"/>
          <p:cNvSpPr/>
          <p:nvPr/>
        </p:nvSpPr>
        <p:spPr>
          <a:xfrm>
            <a:off x="365760" y="4293720"/>
            <a:ext cx="8229240" cy="383760"/>
          </a:xfrm>
          <a:prstGeom prst="rect">
            <a:avLst/>
          </a:prstGeom>
          <a:solidFill>
            <a:srgbClr val="EBF5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26"/>
          <p:cNvSpPr/>
          <p:nvPr/>
        </p:nvSpPr>
        <p:spPr>
          <a:xfrm>
            <a:off x="457200" y="42937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1A3A5C"/>
                </a:solidFill>
                <a:effectLst/>
                <a:uFillTx/>
                <a:latin typeface="Calibri"/>
                <a:ea typeface="Calibri"/>
              </a:rPr>
              <a:t>El Gemelo Digital ya tiene la arquitectura lista — la transición a datos reales no requiere rediseño, solo reentrenamiento.</a:t>
            </a: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4" name="Image 1" descr="preencoded.png"/>
          <p:cNvPicPr/>
          <p:nvPr/>
        </p:nvPicPr>
        <p:blipFill>
          <a:blip r:embed="rId2"/>
          <a:stretch/>
        </p:blipFill>
        <p:spPr>
          <a:xfrm>
            <a:off x="5669280" y="4690800"/>
            <a:ext cx="329148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Text 27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17 / 18</a:t>
            </a:r>
            <a:endParaRPr lang="es-MX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Image 0" descr="preencoded.png"/>
          <p:cNvPicPr/>
          <p:nvPr/>
        </p:nvPicPr>
        <p:blipFill>
          <a:blip r:embed="rId1">
            <a:alphaModFix amt="22000"/>
          </a:blip>
          <a:stretch/>
        </p:blipFill>
        <p:spPr>
          <a:xfrm>
            <a:off x="4114800" y="-914400"/>
            <a:ext cx="5943240" cy="731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7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"/>
          <p:cNvSpPr/>
          <p:nvPr/>
        </p:nvSpPr>
        <p:spPr>
          <a:xfrm>
            <a:off x="164520" y="0"/>
            <a:ext cx="54360" cy="5143320"/>
          </a:xfrm>
          <a:prstGeom prst="rect">
            <a:avLst/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2"/>
          <p:cNvSpPr/>
          <p:nvPr/>
        </p:nvSpPr>
        <p:spPr>
          <a:xfrm>
            <a:off x="4572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CITIZEN DATA SCIENTIST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3"/>
          <p:cNvSpPr/>
          <p:nvPr/>
        </p:nvSpPr>
        <p:spPr>
          <a:xfrm>
            <a:off x="457200" y="777240"/>
            <a:ext cx="77720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Gemelo Digital de Inventario</a:t>
            </a:r>
            <a:endParaRPr lang="es-MX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 Retail — Mercería Tommy</a:t>
            </a:r>
            <a:endParaRPr lang="es-MX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4"/>
          <p:cNvSpPr/>
          <p:nvPr/>
        </p:nvSpPr>
        <p:spPr>
          <a:xfrm>
            <a:off x="457200" y="214884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AAAAA"/>
                </a:solidFill>
                <a:effectLst/>
                <a:uFillTx/>
                <a:latin typeface="Calibri"/>
                <a:ea typeface="Calibri"/>
              </a:rPr>
              <a:t>Tecnológico de Monterrey — The Learning Gate  |  Abril 2026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5"/>
          <p:cNvSpPr/>
          <p:nvPr/>
        </p:nvSpPr>
        <p:spPr>
          <a:xfrm>
            <a:off x="457200" y="2486880"/>
            <a:ext cx="5486400" cy="360"/>
          </a:xfrm>
          <a:prstGeom prst="line">
            <a:avLst/>
          </a:prstGeom>
          <a:ln w="12700">
            <a:solidFill>
              <a:srgbClr val="2E75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6"/>
          <p:cNvSpPr/>
          <p:nvPr/>
        </p:nvSpPr>
        <p:spPr>
          <a:xfrm>
            <a:off x="457200" y="263340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±5.53</a:t>
            </a:r>
            <a:endParaRPr lang="es-MX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7"/>
          <p:cNvSpPr/>
          <p:nvPr/>
        </p:nvSpPr>
        <p:spPr>
          <a:xfrm>
            <a:off x="457200" y="32461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uds RMSE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Blind Test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8"/>
          <p:cNvSpPr/>
          <p:nvPr/>
        </p:nvSpPr>
        <p:spPr>
          <a:xfrm>
            <a:off x="2606040" y="263340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63.47%</a:t>
            </a:r>
            <a:endParaRPr lang="es-MX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9"/>
          <p:cNvSpPr/>
          <p:nvPr/>
        </p:nvSpPr>
        <p:spPr>
          <a:xfrm>
            <a:off x="2606040" y="32461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Tasa de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Aciertos OOT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0"/>
          <p:cNvSpPr/>
          <p:nvPr/>
        </p:nvSpPr>
        <p:spPr>
          <a:xfrm>
            <a:off x="4754880" y="263340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$181K</a:t>
            </a:r>
            <a:endParaRPr lang="es-MX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11"/>
          <p:cNvSpPr/>
          <p:nvPr/>
        </p:nvSpPr>
        <p:spPr>
          <a:xfrm>
            <a:off x="4754880" y="32461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MXN Capital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Liberado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2"/>
          <p:cNvSpPr/>
          <p:nvPr/>
        </p:nvSpPr>
        <p:spPr>
          <a:xfrm>
            <a:off x="6903720" y="263340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$607K</a:t>
            </a:r>
            <a:endParaRPr lang="es-MX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13"/>
          <p:cNvSpPr/>
          <p:nvPr/>
        </p:nvSpPr>
        <p:spPr>
          <a:xfrm>
            <a:off x="6903720" y="32461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MXN Ganancia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ACCDD"/>
                </a:solidFill>
                <a:effectLst/>
                <a:uFillTx/>
                <a:latin typeface="Calibri"/>
                <a:ea typeface="Calibri"/>
              </a:rPr>
              <a:t>Proyectada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14"/>
          <p:cNvSpPr/>
          <p:nvPr/>
        </p:nvSpPr>
        <p:spPr>
          <a:xfrm>
            <a:off x="457200" y="3822120"/>
            <a:ext cx="5486400" cy="360"/>
          </a:xfrm>
          <a:prstGeom prst="line">
            <a:avLst/>
          </a:prstGeom>
          <a:ln w="12700">
            <a:solidFill>
              <a:srgbClr val="3344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5"/>
          <p:cNvSpPr/>
          <p:nvPr/>
        </p:nvSpPr>
        <p:spPr>
          <a:xfrm>
            <a:off x="457200" y="39319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AAAAA"/>
                </a:solidFill>
                <a:effectLst/>
                <a:uFillTx/>
                <a:latin typeface="Calibri"/>
                <a:ea typeface="Calibri"/>
              </a:rPr>
              <a:t>Carlos Escalante Sánchez  |  Citizen Data Scientist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6"/>
          <p:cNvSpPr/>
          <p:nvPr/>
        </p:nvSpPr>
        <p:spPr>
          <a:xfrm>
            <a:off x="457200" y="425196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¿Preguntas?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4" name="Image 1" descr="preencoded.png"/>
          <p:cNvPicPr/>
          <p:nvPr/>
        </p:nvPicPr>
        <p:blipFill>
          <a:blip r:embed="rId2"/>
          <a:stretch/>
        </p:blipFill>
        <p:spPr>
          <a:xfrm>
            <a:off x="365760" y="4617720"/>
            <a:ext cx="347436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Text 17"/>
          <p:cNvSpPr/>
          <p:nvPr/>
        </p:nvSpPr>
        <p:spPr>
          <a:xfrm>
            <a:off x="8460000" y="4846320"/>
            <a:ext cx="592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alibri"/>
                <a:ea typeface="Calibri"/>
              </a:rPr>
              <a:t>18 / 18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LibreOffice/26.2.1.2$Windows_X86_64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2026-05-07T18:39:48Z</dcterms:created>
  <dc:creator>Carlos Escalante Sánchez</dc:creator>
  <dc:description/>
  <dc:language>es-MX</dc:language>
  <cp:lastModifiedBy/>
  <dcterms:modified xsi:type="dcterms:W3CDTF">2026-05-18T12:52:31Z</dcterms:modified>
  <cp:revision>23</cp:revision>
  <dc:subject>PptxGenJS Presentation</dc:subject>
  <dc:title>Gemelo Digital de Inventario — Mercería | CDS TLG 2025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Presentación en pantalla (16:9)</vt:lpwstr>
  </property>
  <property fmtid="{D5CDD505-2E9C-101B-9397-08002B2CF9AE}" pid="4" name="Slides">
    <vt:i4>18</vt:i4>
  </property>
</Properties>
</file>