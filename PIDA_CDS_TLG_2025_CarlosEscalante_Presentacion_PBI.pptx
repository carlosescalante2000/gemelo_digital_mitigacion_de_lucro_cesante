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media/image2.svg" ContentType="image/svg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/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desplazar la diapositiva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CC2404A6-A140-4183-B826-154029926F6A}" type="slidenum">
              <a:rPr lang="es-MX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s-MX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PORTADA (30 seg)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Introducirse brevemente. Señalar que el PIDA resuelve un problema real de una PYME familiar de mercería en Tlaxcala usando Machine Learning y Power BI.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Mencionar los 4 entregables: notebook .ipynb (toda la evidencia técnica), dashboard .pbix, documentación Word y presentación.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presentación es la versión digerida para la evaluación — el notebook habla por sí solo.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955542A-B844-4DB0-B874-993EEF1557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AGENDA (30 seg)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Mostrar la estructura general. La diapositiva 5 (Dashboard Power BI) es el núcleo — donde el negocio se conecta con el ML.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Mencionar que el notebook .ipynb contiene toda la evidencia técnica detallada con outputs ejecutados.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B88A90B-E3F7-49B3-92D5-79C65D96691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PROBLEMA (1.5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Mercería Tommy: sin registros digitales de ventas. El dueño pide 40% más de inventario del que se vende, por intuición.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30,435 intentos de compra fallidos es el costo cuantificado de no tener datos.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T-Test (T=17.30, p=6.5×10⁻⁴²) confirma que el Carnaval de Yauhquemehcan genera 4.32x más demanda — esto justifica matemáticamente el proyecto.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5575062-1E6A-4A80-AF3C-855F4C5BF8A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GEMELO DIGITAL (1.5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ausencia de datos digitales históricos forzó la creación de un Gemelo Digital — datos sintéticos que replican el comportamiento real.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Welch's T-Test valida que el motor estocástico capturó exitosamente el efecto Carnaval.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Importante: esto no fue arbitrario — fue la única alternativa metodológicamente válida para comenzar el proyecto sin datos reales.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29504E2-EA8B-4996-A646-925B1D56F57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EDA (1.5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análisis exploratorio no fue cosmético — produjo hallazgos accionables.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pico del 14 de enero de 2025 ($326,331 MXN en un día) confirma que el Carnaval de Yauhquemehcan es el evento económico más importante para el negocio.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70.57% de ingreso en colores Especiales guía la estrategia de compra: priorizar Tornasolés y Metálicos.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7C7E57F2-EC03-4D55-9C66-906F8E8E841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MODELOS (2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Progresión metodológica: Simple (baseline) → Múltiple (estadístico formal) → AutoML (producción).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Backward Elimination garantiza que solo entran variables estadísticamente significativas.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modelo esperado era AdaBoost — AutoML seleccionó LightGBM objetivamente por métricas. Ese es el comportamiento correcto de un pipeline AutoML.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Criterio de éxito original R²&gt;0.80 fue reorientado a RMSE — explicado en Sección 9.3 del notebook.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EA1AEB-09DB-400E-9B48-674188D215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BLIND TEST (1.5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Este es el resultado más importante — 2,097 transacciones de Carnaval 2026 completamente nuevas.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RMSE = 5.53 uds es operativamente aceptable en mercería: una desviación de 5 unidades no genera pérdidas comparables con un quiebre de stock.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hallazgo honesto sobre Reg. Múltiple vs AutoML demuestra integridad metodológica. No se esconden resultados incómodos.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7094FE8-3D59-49F6-A950-7A4001F7B6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DASHBOARD HOME (30 seg)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Portada del dashboard con tema visual inspirado en el Carnaval de Yauhquemehcan — máscaras aztecas, fondo oscuro, paleta cromática del folclor regional.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Page Navigators permiten a la dueña moverse sin usar las pestañas nativas de Power BI.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propósito es adopción cultural: la dueña reconoce el dashboard como propio de su negocio.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8909527-CB95-49A7-8488-307B1F8B5D6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DASHBOARD DIAGNÓSTICO (1.5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página responde: ¿Cómo se ha comportado el negocio históricamente?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KPIs calculados con DAX: SUM para ingresos totales, CALCULATE+FILTER para ventas exitosas.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donut muestra que Especiales (Tornasolés y Metálicos) concentran el 70.57% del ingreso.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barra de Venta Perdida identifica a Aplicación Planchable como el material con mayor lucro cesante.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960758D-ED47-49EC-B998-EC3F0FEAE5E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DASHBOARD OPTIMIZACIÓN (2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es la página de mayor valor para el negocio: ¿Qué comprar, cuánto y cuánto cuesta?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semáforo usa formato condicional por percentiles (0-33%/34-66%/67-100%) — funciona sin importar cómo cambien los volúmenes al migrar a datos reales.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Materiales en ROJO urgente: Pedrería Cristal (1,581 uds), Pedrería Acrílico (1,545 uds).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Proyección Venta Perdida $0.00: si se sigue la prescripción completa, no habrá quiebres de stock.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881C6BE-C1C6-4D5A-9229-49DCEFC3AE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ARQUITECTURA (1.5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Flujo completo: desde los CSVs hasta el dashboard en producción.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.pkl contiene todo el pipeline de preprocesamiento (Robust Scaler, Quantile Transform, etc.) — no solo el modelo.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4 problemas técnicos resueltos demuestran que el desarrollo fue real. El bug de Microsoft y el producto cartesiano en DAX son problemas específicos de integración que solo aparecen al trabajar con datos reales conectados.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ECD228A-7654-4172-99E9-C9D88BB367A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DAX (1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 leer las fórmulas — explicar el propósito de cada una.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SUMX es la más sofisticada: requiere entender contexto de fila vs contexto de filtro en Power BI.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CONTAINSSTRING resolvió el problema técnico más difícil del proyecto.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Estas 4 fórmulas cubren la Subcompetencia 3.3 a nivel técnico avanzado.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79727DA-1877-4E1C-BB2F-2B7A9FF6BA3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SEMÁFORO (1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semáforo conecta el ML con la operación diaria.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Decisión clave: percentiles en lugar de umbrales fijos. Cuando la dueña empiece a capturar datos reales y los volúmenes cambien, el semáforo no quedará obsoleto.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materiales en rojo son la lista de compra inmediata para Carnaval 2026.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EFE2841-CD55-4539-A4B4-EC93CFC4502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ROI (1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$181,496 MXN liberados es el impacto financiero bajo el supuesto base (+40% sobre-pedido).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umbral de rentabilidad a +30% significa que incluso si la dueña sobre-pide solo un 30%, el modelo ya genera beneficio positivo.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Esto responde directamente al criterio de Beneficio Significativo de la rúbrica de evaluación.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4FDD59B-6231-4664-96EA-FC018DF844C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SENSIBILIDAD (1 min)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tabla responde a la pregunta '¿y si el supuesto del 40% es incorrecto?'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Rojo = ROI negativo (el modelo no compensa si el dueño sobre-pide menos del 30%).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escenarios de error de sistema modelan un riesgo operativo real en negocios con plataformas de proveedor de entrada manual.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 una aportación original al análisis — no es un ejercicio académico estándar.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E332F61-982A-48E8-8F69-ACFDBF5D37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COMPETENCIAS (30 seg)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Mostrar sin leer cada línea. El propósito es demostrar cobertura completa del Diplomado.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Nota: Subcompetencia 3.4 (Tableau) se cubre con el archivo .twbx adjunto en la plataforma — mencionarlo brevemente.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Todos los entregables están disponibles para revisión del evaluador.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9C7DD63-08F5-40F9-8583-F4DB49FBEA7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ROADMAP (45 seg)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 diapositiva responde directamente a la observación del Dr. Olmos durante la sesión de avance.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Anexo B del notebook documenta este roadmap con detalle técnico.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Clave: el pipeline en producción no necesita rediseño — solo alimentarlo con datos reales durante la Marcha Blanca.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FB404A8-1919-42AE-8BC1-024EA98F63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5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CIERRE (30 seg)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Agradecer la atención. Recordar los 4 entregables disponibles: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1. Notebook .ipynb — toda la evidencia técnica con outputs ejecutados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2. Dashboard .pbix — integrado con el modelo pkl en producción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3. Documentación Word — data lineage, glosario, roadmap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4. Tableau .twbx — competencia 3.4, adjunto en plataforma como medida complementaria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Abrir espacio para preguntas. Notebook y dashboard disponibles para demostración en vivo.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86550779-855E-4DFC-AD9F-F3DF1ECC03D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es-MX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s-MX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del texto de título</a:t>
            </a:r>
            <a:endParaRPr lang="es-MX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9999"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texto del esquema</a:t>
            </a:r>
            <a:endParaRPr lang="es-MX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Segundo nivel del esquema</a:t>
            </a:r>
            <a:endParaRPr lang="es-MX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Tercer nivel del esquema</a:t>
            </a:r>
            <a:endParaRPr lang="es-MX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Cuarto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Sexto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s-MX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Séptimo nivel del esquema</a:t>
            </a:r>
            <a:endParaRPr lang="es-MX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6583680" y="-914400"/>
            <a:ext cx="4114080" cy="41140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1097280" y="3200400"/>
            <a:ext cx="3199680" cy="3199680"/>
          </a:xfrm>
          <a:prstGeom prst="ellipse">
            <a:avLst/>
          </a:prstGeom>
          <a:solidFill>
            <a:srgbClr val="FFB703">
              <a:alpha val="10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50292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81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PROYECTO INTEGRADOR DE DOMINIO AUTÓNOMO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795600"/>
            <a:ext cx="82288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Citizen Data Scientist — The Learning Gate | Tecnológico de Monterrey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1261800"/>
            <a:ext cx="8228880" cy="803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Gemelo Digital de Inventario</a:t>
            </a:r>
            <a:endParaRPr lang="es-MX" sz="4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457200" y="2030040"/>
            <a:ext cx="82288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en Retail — Mercería Tommy</a:t>
            </a:r>
            <a:endParaRPr lang="es-MX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2761560"/>
            <a:ext cx="77716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Analítica Prescriptiva con Power BI  |  Carnaval 2026  |  LGBMRegressor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457200" y="3200400"/>
            <a:ext cx="3839760" cy="932040"/>
          </a:xfrm>
          <a:prstGeom prst="roundRect">
            <a:avLst>
              <a:gd name="adj" fmla="val 1176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594360" y="3273480"/>
            <a:ext cx="35654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Carlos Escalante Sánchez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9"/>
          <p:cNvSpPr/>
          <p:nvPr/>
        </p:nvSpPr>
        <p:spPr>
          <a:xfrm>
            <a:off x="594360" y="3620880"/>
            <a:ext cx="356544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Citizen Data Scientist  |  Mayo 2026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1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1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0000" y="4408560"/>
            <a:ext cx="4066560" cy="523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AGENDA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¿Qué vamos a recorrer en 20 minutos?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3"/>
          <p:cNvSpPr/>
          <p:nvPr/>
        </p:nvSpPr>
        <p:spPr>
          <a:xfrm>
            <a:off x="365760" y="1417320"/>
            <a:ext cx="4114080" cy="749160"/>
          </a:xfrm>
          <a:prstGeom prst="roundRect">
            <a:avLst>
              <a:gd name="adj" fmla="val 1463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4"/>
          <p:cNvSpPr/>
          <p:nvPr/>
        </p:nvSpPr>
        <p:spPr>
          <a:xfrm>
            <a:off x="365760" y="1417320"/>
            <a:ext cx="419760" cy="7491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5"/>
          <p:cNvSpPr/>
          <p:nvPr/>
        </p:nvSpPr>
        <p:spPr>
          <a:xfrm>
            <a:off x="365760" y="1417320"/>
            <a:ext cx="4197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877680" y="150876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Problema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877680" y="1819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Dos dolores simultáneos de Mercería Tommy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/>
          <p:cNvSpPr/>
          <p:nvPr/>
        </p:nvSpPr>
        <p:spPr>
          <a:xfrm>
            <a:off x="3840480" y="181980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2'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9"/>
          <p:cNvSpPr/>
          <p:nvPr/>
        </p:nvSpPr>
        <p:spPr>
          <a:xfrm>
            <a:off x="365760" y="2295000"/>
            <a:ext cx="4114080" cy="749160"/>
          </a:xfrm>
          <a:prstGeom prst="roundRect">
            <a:avLst>
              <a:gd name="adj" fmla="val 1463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10"/>
          <p:cNvSpPr/>
          <p:nvPr/>
        </p:nvSpPr>
        <p:spPr>
          <a:xfrm>
            <a:off x="365760" y="2295000"/>
            <a:ext cx="419760" cy="74916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1"/>
          <p:cNvSpPr/>
          <p:nvPr/>
        </p:nvSpPr>
        <p:spPr>
          <a:xfrm>
            <a:off x="365760" y="2295000"/>
            <a:ext cx="4197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877680" y="23864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Gemelo Digital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877680" y="26974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Datos sintéticos: metodología y validación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4"/>
          <p:cNvSpPr/>
          <p:nvPr/>
        </p:nvSpPr>
        <p:spPr>
          <a:xfrm>
            <a:off x="3840480" y="269748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2'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365760" y="3173040"/>
            <a:ext cx="4114080" cy="749160"/>
          </a:xfrm>
          <a:prstGeom prst="roundRect">
            <a:avLst>
              <a:gd name="adj" fmla="val 1463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6"/>
          <p:cNvSpPr/>
          <p:nvPr/>
        </p:nvSpPr>
        <p:spPr>
          <a:xfrm>
            <a:off x="365760" y="3173040"/>
            <a:ext cx="419760" cy="7491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17"/>
          <p:cNvSpPr/>
          <p:nvPr/>
        </p:nvSpPr>
        <p:spPr>
          <a:xfrm>
            <a:off x="365760" y="3173040"/>
            <a:ext cx="4197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877680" y="326448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EDA &amp; Hallazgos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877680" y="35751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Estadística descriptiva y KPIs históricos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0"/>
          <p:cNvSpPr/>
          <p:nvPr/>
        </p:nvSpPr>
        <p:spPr>
          <a:xfrm>
            <a:off x="3840480" y="357516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2'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21"/>
          <p:cNvSpPr/>
          <p:nvPr/>
        </p:nvSpPr>
        <p:spPr>
          <a:xfrm>
            <a:off x="365760" y="4050720"/>
            <a:ext cx="4114080" cy="749160"/>
          </a:xfrm>
          <a:prstGeom prst="roundRect">
            <a:avLst>
              <a:gd name="adj" fmla="val 1463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Shape 22"/>
          <p:cNvSpPr/>
          <p:nvPr/>
        </p:nvSpPr>
        <p:spPr>
          <a:xfrm>
            <a:off x="365760" y="4050720"/>
            <a:ext cx="419760" cy="74916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23"/>
          <p:cNvSpPr/>
          <p:nvPr/>
        </p:nvSpPr>
        <p:spPr>
          <a:xfrm>
            <a:off x="365760" y="4050720"/>
            <a:ext cx="4197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877680" y="414216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Modelos ML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877680" y="44532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Reg. Simple → Múltiple → AutoML LightGBM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6"/>
          <p:cNvSpPr/>
          <p:nvPr/>
        </p:nvSpPr>
        <p:spPr>
          <a:xfrm>
            <a:off x="3840480" y="445320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3'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27"/>
          <p:cNvSpPr/>
          <p:nvPr/>
        </p:nvSpPr>
        <p:spPr>
          <a:xfrm>
            <a:off x="4709160" y="1417320"/>
            <a:ext cx="4114080" cy="749160"/>
          </a:xfrm>
          <a:prstGeom prst="roundRect">
            <a:avLst>
              <a:gd name="adj" fmla="val 1463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28"/>
          <p:cNvSpPr/>
          <p:nvPr/>
        </p:nvSpPr>
        <p:spPr>
          <a:xfrm>
            <a:off x="4709160" y="1417320"/>
            <a:ext cx="419760" cy="7491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4709160" y="1417320"/>
            <a:ext cx="4197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30"/>
          <p:cNvSpPr/>
          <p:nvPr/>
        </p:nvSpPr>
        <p:spPr>
          <a:xfrm>
            <a:off x="5221080" y="150876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Dashboard Power BI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31"/>
          <p:cNvSpPr/>
          <p:nvPr/>
        </p:nvSpPr>
        <p:spPr>
          <a:xfrm>
            <a:off x="5221080" y="18198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3 páginas: Home, Diagnóstico, Optimización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32"/>
          <p:cNvSpPr/>
          <p:nvPr/>
        </p:nvSpPr>
        <p:spPr>
          <a:xfrm>
            <a:off x="8183880" y="181980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5'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Shape 33"/>
          <p:cNvSpPr/>
          <p:nvPr/>
        </p:nvSpPr>
        <p:spPr>
          <a:xfrm>
            <a:off x="4709160" y="2295000"/>
            <a:ext cx="4114080" cy="749160"/>
          </a:xfrm>
          <a:prstGeom prst="roundRect">
            <a:avLst>
              <a:gd name="adj" fmla="val 1463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4"/>
          <p:cNvSpPr/>
          <p:nvPr/>
        </p:nvSpPr>
        <p:spPr>
          <a:xfrm>
            <a:off x="4709160" y="2295000"/>
            <a:ext cx="419760" cy="74916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35"/>
          <p:cNvSpPr/>
          <p:nvPr/>
        </p:nvSpPr>
        <p:spPr>
          <a:xfrm>
            <a:off x="4709160" y="2295000"/>
            <a:ext cx="4197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6"/>
          <p:cNvSpPr/>
          <p:nvPr/>
        </p:nvSpPr>
        <p:spPr>
          <a:xfrm>
            <a:off x="5221080" y="238644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Técnica &amp; DAX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7"/>
          <p:cNvSpPr/>
          <p:nvPr/>
        </p:nvSpPr>
        <p:spPr>
          <a:xfrm>
            <a:off x="5221080" y="269748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Python→pkl, Power Query, fórmulas DAX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8"/>
          <p:cNvSpPr/>
          <p:nvPr/>
        </p:nvSpPr>
        <p:spPr>
          <a:xfrm>
            <a:off x="8183880" y="269748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3'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39"/>
          <p:cNvSpPr/>
          <p:nvPr/>
        </p:nvSpPr>
        <p:spPr>
          <a:xfrm>
            <a:off x="4709160" y="3173040"/>
            <a:ext cx="4114080" cy="749160"/>
          </a:xfrm>
          <a:prstGeom prst="roundRect">
            <a:avLst>
              <a:gd name="adj" fmla="val 1463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40"/>
          <p:cNvSpPr/>
          <p:nvPr/>
        </p:nvSpPr>
        <p:spPr>
          <a:xfrm>
            <a:off x="4709160" y="3173040"/>
            <a:ext cx="419760" cy="7491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41"/>
          <p:cNvSpPr/>
          <p:nvPr/>
        </p:nvSpPr>
        <p:spPr>
          <a:xfrm>
            <a:off x="4709160" y="3173040"/>
            <a:ext cx="4197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2"/>
          <p:cNvSpPr/>
          <p:nvPr/>
        </p:nvSpPr>
        <p:spPr>
          <a:xfrm>
            <a:off x="5221080" y="326448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ROI e Impacto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43"/>
          <p:cNvSpPr/>
          <p:nvPr/>
        </p:nvSpPr>
        <p:spPr>
          <a:xfrm>
            <a:off x="5221080" y="357516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$181,496 MXN liberados — 8 escenarios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44"/>
          <p:cNvSpPr/>
          <p:nvPr/>
        </p:nvSpPr>
        <p:spPr>
          <a:xfrm>
            <a:off x="8183880" y="357516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2'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5"/>
          <p:cNvSpPr/>
          <p:nvPr/>
        </p:nvSpPr>
        <p:spPr>
          <a:xfrm>
            <a:off x="4709160" y="4050720"/>
            <a:ext cx="4114080" cy="749160"/>
          </a:xfrm>
          <a:prstGeom prst="roundRect">
            <a:avLst>
              <a:gd name="adj" fmla="val 1463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46"/>
          <p:cNvSpPr/>
          <p:nvPr/>
        </p:nvSpPr>
        <p:spPr>
          <a:xfrm>
            <a:off x="4709160" y="4050720"/>
            <a:ext cx="419760" cy="74916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47"/>
          <p:cNvSpPr/>
          <p:nvPr/>
        </p:nvSpPr>
        <p:spPr>
          <a:xfrm>
            <a:off x="4709160" y="4050720"/>
            <a:ext cx="419760" cy="74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48"/>
          <p:cNvSpPr/>
          <p:nvPr/>
        </p:nvSpPr>
        <p:spPr>
          <a:xfrm>
            <a:off x="5221080" y="4142160"/>
            <a:ext cx="30168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Roadmap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9"/>
          <p:cNvSpPr/>
          <p:nvPr/>
        </p:nvSpPr>
        <p:spPr>
          <a:xfrm>
            <a:off x="5221080" y="4453200"/>
            <a:ext cx="274248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Transición a datos reales — Marcha Blanca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0"/>
          <p:cNvSpPr/>
          <p:nvPr/>
        </p:nvSpPr>
        <p:spPr>
          <a:xfrm>
            <a:off x="8183880" y="4453200"/>
            <a:ext cx="54792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1'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51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52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2/18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01 • EL PROBLEMA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Mercería Tommy: dos dolores simultáneos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3"/>
          <p:cNvSpPr/>
          <p:nvPr/>
        </p:nvSpPr>
        <p:spPr>
          <a:xfrm>
            <a:off x="365760" y="118872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PYME de insumos para trajes de Carnaval — Yauhquemehcan, Tlaxcala — operación 100% empírica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4"/>
          <p:cNvSpPr/>
          <p:nvPr/>
        </p:nvSpPr>
        <p:spPr>
          <a:xfrm>
            <a:off x="365760" y="1461960"/>
            <a:ext cx="3976920" cy="3272760"/>
          </a:xfrm>
          <a:prstGeom prst="roundRect">
            <a:avLst>
              <a:gd name="adj" fmla="val 3352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5"/>
          <p:cNvSpPr/>
          <p:nvPr/>
        </p:nvSpPr>
        <p:spPr>
          <a:xfrm>
            <a:off x="365760" y="1461960"/>
            <a:ext cx="3976920" cy="6336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6"/>
          <p:cNvSpPr/>
          <p:nvPr/>
        </p:nvSpPr>
        <p:spPr>
          <a:xfrm>
            <a:off x="502920" y="1562400"/>
            <a:ext cx="3748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PROBLEMA 1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7"/>
          <p:cNvSpPr/>
          <p:nvPr/>
        </p:nvSpPr>
        <p:spPr>
          <a:xfrm>
            <a:off x="502920" y="183672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Quiebres de Stock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Temporada Alta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8"/>
          <p:cNvSpPr/>
          <p:nvPr/>
        </p:nvSpPr>
        <p:spPr>
          <a:xfrm>
            <a:off x="502920" y="2495160"/>
            <a:ext cx="374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30,435 intentos de compra fallidos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entre 2022 y 2025 por falta de inventario.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9"/>
          <p:cNvSpPr/>
          <p:nvPr/>
        </p:nvSpPr>
        <p:spPr>
          <a:xfrm>
            <a:off x="502920" y="3016440"/>
            <a:ext cx="3748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Carnaval = 4.32× la demanda promedio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T = 17.30 | p = 6.5×10⁻⁴²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0"/>
          <p:cNvSpPr/>
          <p:nvPr/>
        </p:nvSpPr>
        <p:spPr>
          <a:xfrm>
            <a:off x="502920" y="3592440"/>
            <a:ext cx="3748320" cy="657720"/>
          </a:xfrm>
          <a:prstGeom prst="roundRect">
            <a:avLst>
              <a:gd name="adj" fmla="val 166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1"/>
          <p:cNvSpPr/>
          <p:nvPr/>
        </p:nvSpPr>
        <p:spPr>
          <a:xfrm>
            <a:off x="594360" y="3592440"/>
            <a:ext cx="356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💸  Lucro cesante irrecuperable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2"/>
          <p:cNvSpPr/>
          <p:nvPr/>
        </p:nvSpPr>
        <p:spPr>
          <a:xfrm>
            <a:off x="4572000" y="1461960"/>
            <a:ext cx="3976920" cy="3272760"/>
          </a:xfrm>
          <a:prstGeom prst="roundRect">
            <a:avLst>
              <a:gd name="adj" fmla="val 3352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3"/>
          <p:cNvSpPr/>
          <p:nvPr/>
        </p:nvSpPr>
        <p:spPr>
          <a:xfrm>
            <a:off x="4572000" y="1461960"/>
            <a:ext cx="3976920" cy="63360"/>
          </a:xfrm>
          <a:prstGeom prst="rect">
            <a:avLst/>
          </a:prstGeom>
          <a:solidFill>
            <a:srgbClr val="FFB70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14"/>
          <p:cNvSpPr/>
          <p:nvPr/>
        </p:nvSpPr>
        <p:spPr>
          <a:xfrm>
            <a:off x="4709160" y="1562400"/>
            <a:ext cx="3748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FFB703"/>
                </a:solidFill>
                <a:effectLst/>
                <a:uFillTx/>
                <a:latin typeface="Calibri"/>
                <a:ea typeface="Calibri"/>
              </a:rPr>
              <a:t>PROBLEMA 2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15"/>
          <p:cNvSpPr/>
          <p:nvPr/>
        </p:nvSpPr>
        <p:spPr>
          <a:xfrm>
            <a:off x="4709160" y="1836720"/>
            <a:ext cx="374832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Sobre-Inventario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Fuera de Temporada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6"/>
          <p:cNvSpPr/>
          <p:nvPr/>
        </p:nvSpPr>
        <p:spPr>
          <a:xfrm>
            <a:off x="4709160" y="2495160"/>
            <a:ext cx="374832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+40% de sobre-pedido empírico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sin sustento cuantitativo. Solo intuición.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7"/>
          <p:cNvSpPr/>
          <p:nvPr/>
        </p:nvSpPr>
        <p:spPr>
          <a:xfrm>
            <a:off x="4709160" y="3016440"/>
            <a:ext cx="374832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Capital inmovilizado con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Holding Cost del 15% anual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8"/>
          <p:cNvSpPr/>
          <p:nvPr/>
        </p:nvSpPr>
        <p:spPr>
          <a:xfrm>
            <a:off x="4709160" y="3592440"/>
            <a:ext cx="3748320" cy="657720"/>
          </a:xfrm>
          <a:prstGeom prst="roundRect">
            <a:avLst>
              <a:gd name="adj" fmla="val 166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9"/>
          <p:cNvSpPr/>
          <p:nvPr/>
        </p:nvSpPr>
        <p:spPr>
          <a:xfrm>
            <a:off x="4800600" y="3592440"/>
            <a:ext cx="356544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B703"/>
                </a:solidFill>
                <a:effectLst/>
                <a:uFillTx/>
                <a:latin typeface="Calibri"/>
                <a:ea typeface="Calibri"/>
              </a:rPr>
              <a:t>💰  Dinero atrapado sin trabajar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0"/>
          <p:cNvSpPr/>
          <p:nvPr/>
        </p:nvSpPr>
        <p:spPr>
          <a:xfrm>
            <a:off x="4116600" y="2595240"/>
            <a:ext cx="694080" cy="6940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4116600" y="2595240"/>
            <a:ext cx="69408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VS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2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3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3/18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02 • GEMELO DIGITAL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Datos sintéticos: metodología y escala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3"/>
          <p:cNvSpPr/>
          <p:nvPr/>
        </p:nvSpPr>
        <p:spPr>
          <a:xfrm>
            <a:off x="365760" y="118872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Motor estocástico con SEMILLA_MAESTRA=42 — reproducibilidad total garantizada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4"/>
          <p:cNvSpPr/>
          <p:nvPr/>
        </p:nvSpPr>
        <p:spPr>
          <a:xfrm>
            <a:off x="365760" y="1417320"/>
            <a:ext cx="1992600" cy="986760"/>
          </a:xfrm>
          <a:prstGeom prst="roundRect">
            <a:avLst>
              <a:gd name="adj" fmla="val 1111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5"/>
          <p:cNvSpPr/>
          <p:nvPr/>
        </p:nvSpPr>
        <p:spPr>
          <a:xfrm>
            <a:off x="365760" y="1417320"/>
            <a:ext cx="54000" cy="986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493920" y="1490400"/>
            <a:ext cx="180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113,800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493920" y="1984320"/>
            <a:ext cx="180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Transacciones simuladas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2022–2026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8"/>
          <p:cNvSpPr/>
          <p:nvPr/>
        </p:nvSpPr>
        <p:spPr>
          <a:xfrm>
            <a:off x="2450520" y="1417320"/>
            <a:ext cx="1992600" cy="986760"/>
          </a:xfrm>
          <a:prstGeom prst="roundRect">
            <a:avLst>
              <a:gd name="adj" fmla="val 1111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9"/>
          <p:cNvSpPr/>
          <p:nvPr/>
        </p:nvSpPr>
        <p:spPr>
          <a:xfrm>
            <a:off x="2450520" y="1417320"/>
            <a:ext cx="54000" cy="98676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2578680" y="1490400"/>
            <a:ext cx="180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7,735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2578680" y="1984320"/>
            <a:ext cx="180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SKUs únicos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4 niveles jerárquicos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2"/>
          <p:cNvSpPr/>
          <p:nvPr/>
        </p:nvSpPr>
        <p:spPr>
          <a:xfrm>
            <a:off x="4535280" y="1417320"/>
            <a:ext cx="1992600" cy="986760"/>
          </a:xfrm>
          <a:prstGeom prst="roundRect">
            <a:avLst>
              <a:gd name="adj" fmla="val 1111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3"/>
          <p:cNvSpPr/>
          <p:nvPr/>
        </p:nvSpPr>
        <p:spPr>
          <a:xfrm>
            <a:off x="4535280" y="1417320"/>
            <a:ext cx="54000" cy="98676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4663440" y="1490400"/>
            <a:ext cx="180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24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4663440" y="1984320"/>
            <a:ext cx="180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Variables por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registro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6"/>
          <p:cNvSpPr/>
          <p:nvPr/>
        </p:nvSpPr>
        <p:spPr>
          <a:xfrm>
            <a:off x="6620400" y="1417320"/>
            <a:ext cx="1992600" cy="986760"/>
          </a:xfrm>
          <a:prstGeom prst="roundRect">
            <a:avLst>
              <a:gd name="adj" fmla="val 1111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7"/>
          <p:cNvSpPr/>
          <p:nvPr/>
        </p:nvSpPr>
        <p:spPr>
          <a:xfrm>
            <a:off x="6620400" y="1417320"/>
            <a:ext cx="54000" cy="986760"/>
          </a:xfrm>
          <a:prstGeom prst="rect">
            <a:avLst/>
          </a:prstGeom>
          <a:solidFill>
            <a:srgbClr val="FFB70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8"/>
          <p:cNvSpPr/>
          <p:nvPr/>
        </p:nvSpPr>
        <p:spPr>
          <a:xfrm>
            <a:off x="6748200" y="1490400"/>
            <a:ext cx="18097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42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9"/>
          <p:cNvSpPr/>
          <p:nvPr/>
        </p:nvSpPr>
        <p:spPr>
          <a:xfrm>
            <a:off x="6748200" y="1984320"/>
            <a:ext cx="180972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Semilla Maestra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Reproducibilidad total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20"/>
          <p:cNvSpPr/>
          <p:nvPr/>
        </p:nvSpPr>
        <p:spPr>
          <a:xfrm>
            <a:off x="365760" y="2578680"/>
            <a:ext cx="5028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Reglas de negocio simuladas: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21"/>
          <p:cNvSpPr/>
          <p:nvPr/>
        </p:nvSpPr>
        <p:spPr>
          <a:xfrm>
            <a:off x="365760" y="2907720"/>
            <a:ext cx="511992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2"/>
          <p:cNvSpPr/>
          <p:nvPr/>
        </p:nvSpPr>
        <p:spPr>
          <a:xfrm>
            <a:off x="502920" y="2907720"/>
            <a:ext cx="493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🎭  Estacionalidad Carnaval — demanda 4.32× en enero-febrero (pesos probabilísticos)</a:t>
            </a:r>
            <a:endParaRPr lang="es-MX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23"/>
          <p:cNvSpPr/>
          <p:nvPr/>
        </p:nvSpPr>
        <p:spPr>
          <a:xfrm>
            <a:off x="365760" y="3346560"/>
            <a:ext cx="511992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24"/>
          <p:cNvSpPr/>
          <p:nvPr/>
        </p:nvSpPr>
        <p:spPr>
          <a:xfrm>
            <a:off x="502920" y="3346560"/>
            <a:ext cx="493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💰  35% de probabilidad de compra reducida por restricción de capital del negocio</a:t>
            </a:r>
            <a:endParaRPr lang="es-MX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5"/>
          <p:cNvSpPr/>
          <p:nvPr/>
        </p:nvSpPr>
        <p:spPr>
          <a:xfrm>
            <a:off x="365760" y="3785760"/>
            <a:ext cx="511992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6"/>
          <p:cNvSpPr/>
          <p:nvPr/>
        </p:nvSpPr>
        <p:spPr>
          <a:xfrm>
            <a:off x="502920" y="3785760"/>
            <a:ext cx="493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📦  Lead Time variable 3–8 días por proveedor (distribución aleatoria)</a:t>
            </a:r>
            <a:endParaRPr lang="es-MX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27"/>
          <p:cNvSpPr/>
          <p:nvPr/>
        </p:nvSpPr>
        <p:spPr>
          <a:xfrm>
            <a:off x="365760" y="4224600"/>
            <a:ext cx="511992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8"/>
          <p:cNvSpPr/>
          <p:nvPr/>
        </p:nvSpPr>
        <p:spPr>
          <a:xfrm>
            <a:off x="502920" y="4224600"/>
            <a:ext cx="493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🚫  Venta_Perdida registrada como costo de oportunidad medible (quiebres de stock)</a:t>
            </a:r>
            <a:endParaRPr lang="es-MX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29"/>
          <p:cNvSpPr/>
          <p:nvPr/>
        </p:nvSpPr>
        <p:spPr>
          <a:xfrm>
            <a:off x="5760720" y="2578680"/>
            <a:ext cx="2971080" cy="2295000"/>
          </a:xfrm>
          <a:prstGeom prst="roundRect">
            <a:avLst>
              <a:gd name="adj" fmla="val 461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0"/>
          <p:cNvSpPr/>
          <p:nvPr/>
        </p:nvSpPr>
        <p:spPr>
          <a:xfrm>
            <a:off x="5870520" y="2670120"/>
            <a:ext cx="275148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19" strike="noStrike">
                <a:solidFill>
                  <a:srgbClr val="2DC653"/>
                </a:solidFill>
                <a:effectLst/>
                <a:uFillTx/>
                <a:latin typeface="Calibri"/>
                <a:ea typeface="Calibri"/>
              </a:rPr>
              <a:t>VALIDACIÓN ESTADÍSTICA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31"/>
          <p:cNvSpPr/>
          <p:nvPr/>
        </p:nvSpPr>
        <p:spPr>
          <a:xfrm>
            <a:off x="5870520" y="2926080"/>
            <a:ext cx="27514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Welch's T-Test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32"/>
          <p:cNvSpPr/>
          <p:nvPr/>
        </p:nvSpPr>
        <p:spPr>
          <a:xfrm>
            <a:off x="5870520" y="3310200"/>
            <a:ext cx="2751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T = 17.30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33"/>
          <p:cNvSpPr/>
          <p:nvPr/>
        </p:nvSpPr>
        <p:spPr>
          <a:xfrm>
            <a:off x="5870520" y="3584520"/>
            <a:ext cx="2751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p = 6.5×10⁻⁴²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34"/>
          <p:cNvSpPr/>
          <p:nvPr/>
        </p:nvSpPr>
        <p:spPr>
          <a:xfrm>
            <a:off x="5870520" y="3877200"/>
            <a:ext cx="27514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El Gemelo Digital replicó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exitosamente la estacionalidad.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35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36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4/18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03 • ANÁLISIS EXPLORATORIO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Hallazgos que el negocio nunca había cuantificado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365760" y="1129320"/>
            <a:ext cx="8411760" cy="642240"/>
          </a:xfrm>
          <a:prstGeom prst="roundRect">
            <a:avLst>
              <a:gd name="adj" fmla="val 166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365760" y="1129320"/>
            <a:ext cx="63360" cy="6422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502920" y="1236600"/>
            <a:ext cx="438120" cy="427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6"/>
          <p:cNvSpPr/>
          <p:nvPr/>
        </p:nvSpPr>
        <p:spPr>
          <a:xfrm>
            <a:off x="1042560" y="1218600"/>
            <a:ext cx="319968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$43,363,645</a:t>
            </a:r>
            <a:endParaRPr lang="es-MX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7"/>
          <p:cNvSpPr/>
          <p:nvPr/>
        </p:nvSpPr>
        <p:spPr>
          <a:xfrm>
            <a:off x="3200400" y="1289880"/>
            <a:ext cx="10965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 MXN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8"/>
          <p:cNvSpPr/>
          <p:nvPr/>
        </p:nvSpPr>
        <p:spPr>
          <a:xfrm>
            <a:off x="1042560" y="1522080"/>
            <a:ext cx="7314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Ingreso Bruto Histórico 2022–2025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9"/>
          <p:cNvSpPr/>
          <p:nvPr/>
        </p:nvSpPr>
        <p:spPr>
          <a:xfrm>
            <a:off x="365760" y="1843560"/>
            <a:ext cx="8411760" cy="641880"/>
          </a:xfrm>
          <a:prstGeom prst="roundRect">
            <a:avLst>
              <a:gd name="adj" fmla="val 166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10"/>
          <p:cNvSpPr/>
          <p:nvPr/>
        </p:nvSpPr>
        <p:spPr>
          <a:xfrm>
            <a:off x="365760" y="1843560"/>
            <a:ext cx="63360" cy="641880"/>
          </a:xfrm>
          <a:prstGeom prst="rect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11"/>
          <p:cNvSpPr/>
          <p:nvPr/>
        </p:nvSpPr>
        <p:spPr>
          <a:xfrm>
            <a:off x="502920" y="1950840"/>
            <a:ext cx="438120" cy="42768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2"/>
          <p:cNvSpPr/>
          <p:nvPr/>
        </p:nvSpPr>
        <p:spPr>
          <a:xfrm>
            <a:off x="1042560" y="1932840"/>
            <a:ext cx="319968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30,435</a:t>
            </a:r>
            <a:endParaRPr lang="es-MX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13"/>
          <p:cNvSpPr/>
          <p:nvPr/>
        </p:nvSpPr>
        <p:spPr>
          <a:xfrm>
            <a:off x="3200400" y="2004120"/>
            <a:ext cx="10965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 uds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4"/>
          <p:cNvSpPr/>
          <p:nvPr/>
        </p:nvSpPr>
        <p:spPr>
          <a:xfrm>
            <a:off x="1042560" y="2236320"/>
            <a:ext cx="7314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Quiebres de stock — venta perdida acumulada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Shape 15"/>
          <p:cNvSpPr/>
          <p:nvPr/>
        </p:nvSpPr>
        <p:spPr>
          <a:xfrm>
            <a:off x="365760" y="2557440"/>
            <a:ext cx="8411760" cy="642240"/>
          </a:xfrm>
          <a:prstGeom prst="roundRect">
            <a:avLst>
              <a:gd name="adj" fmla="val 166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16"/>
          <p:cNvSpPr/>
          <p:nvPr/>
        </p:nvSpPr>
        <p:spPr>
          <a:xfrm>
            <a:off x="365760" y="2557440"/>
            <a:ext cx="63360" cy="642240"/>
          </a:xfrm>
          <a:prstGeom prst="rect">
            <a:avLst/>
          </a:prstGeom>
          <a:solidFill>
            <a:srgbClr val="FFB70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17"/>
          <p:cNvSpPr/>
          <p:nvPr/>
        </p:nvSpPr>
        <p:spPr>
          <a:xfrm>
            <a:off x="502920" y="2664720"/>
            <a:ext cx="438120" cy="427680"/>
          </a:xfrm>
          <a:prstGeom prst="ellipse">
            <a:avLst/>
          </a:prstGeom>
          <a:solidFill>
            <a:srgbClr val="FFB70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18"/>
          <p:cNvSpPr/>
          <p:nvPr/>
        </p:nvSpPr>
        <p:spPr>
          <a:xfrm>
            <a:off x="1042560" y="2646720"/>
            <a:ext cx="3199680" cy="33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14 Ene 2025</a:t>
            </a:r>
            <a:endParaRPr lang="es-MX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9"/>
          <p:cNvSpPr/>
          <p:nvPr/>
        </p:nvSpPr>
        <p:spPr>
          <a:xfrm>
            <a:off x="3200400" y="2718360"/>
            <a:ext cx="10965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Text 20"/>
          <p:cNvSpPr/>
          <p:nvPr/>
        </p:nvSpPr>
        <p:spPr>
          <a:xfrm>
            <a:off x="1042560" y="2950560"/>
            <a:ext cx="7314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Pico máximo: $326,331 MXN en un solo día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21"/>
          <p:cNvSpPr/>
          <p:nvPr/>
        </p:nvSpPr>
        <p:spPr>
          <a:xfrm>
            <a:off x="365760" y="3271680"/>
            <a:ext cx="8411760" cy="642240"/>
          </a:xfrm>
          <a:prstGeom prst="roundRect">
            <a:avLst>
              <a:gd name="adj" fmla="val 166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22"/>
          <p:cNvSpPr/>
          <p:nvPr/>
        </p:nvSpPr>
        <p:spPr>
          <a:xfrm>
            <a:off x="365760" y="3271680"/>
            <a:ext cx="63360" cy="6422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23"/>
          <p:cNvSpPr/>
          <p:nvPr/>
        </p:nvSpPr>
        <p:spPr>
          <a:xfrm>
            <a:off x="502920" y="3378960"/>
            <a:ext cx="438120" cy="42768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24"/>
          <p:cNvSpPr/>
          <p:nvPr/>
        </p:nvSpPr>
        <p:spPr>
          <a:xfrm>
            <a:off x="1042560" y="3360960"/>
            <a:ext cx="319968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$312.10</a:t>
            </a:r>
            <a:endParaRPr lang="es-MX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25"/>
          <p:cNvSpPr/>
          <p:nvPr/>
        </p:nvSpPr>
        <p:spPr>
          <a:xfrm>
            <a:off x="3200400" y="3432240"/>
            <a:ext cx="1096560" cy="24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 MXN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26"/>
          <p:cNvSpPr/>
          <p:nvPr/>
        </p:nvSpPr>
        <p:spPr>
          <a:xfrm>
            <a:off x="1042560" y="3664800"/>
            <a:ext cx="7314480" cy="21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Margen neto promedio por ticket exitoso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27"/>
          <p:cNvSpPr/>
          <p:nvPr/>
        </p:nvSpPr>
        <p:spPr>
          <a:xfrm>
            <a:off x="365760" y="3985920"/>
            <a:ext cx="8411760" cy="642240"/>
          </a:xfrm>
          <a:prstGeom prst="roundRect">
            <a:avLst>
              <a:gd name="adj" fmla="val 166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28"/>
          <p:cNvSpPr/>
          <p:nvPr/>
        </p:nvSpPr>
        <p:spPr>
          <a:xfrm>
            <a:off x="365760" y="3985920"/>
            <a:ext cx="63360" cy="6422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29"/>
          <p:cNvSpPr/>
          <p:nvPr/>
        </p:nvSpPr>
        <p:spPr>
          <a:xfrm>
            <a:off x="502920" y="4093200"/>
            <a:ext cx="438120" cy="427680"/>
          </a:xfrm>
          <a:prstGeom prst="ellipse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30"/>
          <p:cNvSpPr/>
          <p:nvPr/>
        </p:nvSpPr>
        <p:spPr>
          <a:xfrm>
            <a:off x="1042560" y="4075200"/>
            <a:ext cx="3199680" cy="33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70.57%</a:t>
            </a:r>
            <a:endParaRPr lang="es-MX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31"/>
          <p:cNvSpPr/>
          <p:nvPr/>
        </p:nvSpPr>
        <p:spPr>
          <a:xfrm>
            <a:off x="3200400" y="4146480"/>
            <a:ext cx="1096560" cy="24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Text 32"/>
          <p:cNvSpPr/>
          <p:nvPr/>
        </p:nvSpPr>
        <p:spPr>
          <a:xfrm>
            <a:off x="1042560" y="4659840"/>
            <a:ext cx="7314480" cy="21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Ingreso concentrado en colores Especiales (Tornasolés)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33"/>
          <p:cNvSpPr/>
          <p:nvPr/>
        </p:nvSpPr>
        <p:spPr>
          <a:xfrm>
            <a:off x="365760" y="4561560"/>
            <a:ext cx="8411760" cy="311760"/>
          </a:xfrm>
          <a:prstGeom prst="roundRect">
            <a:avLst>
              <a:gd name="adj" fmla="val 17143"/>
            </a:avLst>
          </a:prstGeom>
          <a:solidFill>
            <a:srgbClr val="2A3550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34"/>
          <p:cNvSpPr/>
          <p:nvPr/>
        </p:nvSpPr>
        <p:spPr>
          <a:xfrm>
            <a:off x="457200" y="4561560"/>
            <a:ext cx="8228880" cy="31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📝  Herramientas EDA: Sweetviz · YData-Profiling · Plotly (sunburst interactivo) · Seaborn · Matplotlib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35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36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5/18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 • MODELADO PREDICTIVO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Tres modelos — un proceso objetivo de selección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365760" y="100872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AutoML evaluó 15+ algoritmos con 5-Fold Cross-Validation — el campeón fue seleccionado sin sesgo manual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4"/>
          <p:cNvSpPr/>
          <p:nvPr/>
        </p:nvSpPr>
        <p:spPr>
          <a:xfrm>
            <a:off x="365760" y="1440720"/>
            <a:ext cx="2632680" cy="3058920"/>
          </a:xfrm>
          <a:prstGeom prst="roundRect">
            <a:avLst>
              <a:gd name="adj" fmla="val 41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8D99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5"/>
          <p:cNvSpPr/>
          <p:nvPr/>
        </p:nvSpPr>
        <p:spPr>
          <a:xfrm>
            <a:off x="365760" y="1281960"/>
            <a:ext cx="2632680" cy="257040"/>
          </a:xfrm>
          <a:prstGeom prst="rect">
            <a:avLst/>
          </a:prstGeom>
          <a:solidFill>
            <a:srgbClr val="8D99A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457200" y="1297800"/>
            <a:ext cx="2449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1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BASELINE 1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7"/>
          <p:cNvSpPr/>
          <p:nvPr/>
        </p:nvSpPr>
        <p:spPr>
          <a:xfrm>
            <a:off x="457200" y="1604160"/>
            <a:ext cx="24498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Regresión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Lineal Simple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8"/>
          <p:cNvSpPr/>
          <p:nvPr/>
        </p:nvSpPr>
        <p:spPr>
          <a:xfrm>
            <a:off x="457200" y="2151720"/>
            <a:ext cx="2449800" cy="417960"/>
          </a:xfrm>
          <a:prstGeom prst="roundRect">
            <a:avLst>
              <a:gd name="adj" fmla="val 2307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8D99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9"/>
          <p:cNvSpPr/>
          <p:nvPr/>
        </p:nvSpPr>
        <p:spPr>
          <a:xfrm>
            <a:off x="530280" y="2167920"/>
            <a:ext cx="22852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R²  0.0021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10"/>
          <p:cNvSpPr/>
          <p:nvPr/>
        </p:nvSpPr>
        <p:spPr>
          <a:xfrm>
            <a:off x="530280" y="2360880"/>
            <a:ext cx="22852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RMSE  2.697 uds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11"/>
          <p:cNvSpPr/>
          <p:nvPr/>
        </p:nvSpPr>
        <p:spPr>
          <a:xfrm>
            <a:off x="457200" y="2634840"/>
            <a:ext cx="2449800" cy="12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Precio como único predictor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β = 0.0015 por $1 MXN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Ecuación: Cant = 3.8164 + 0.0015×Precio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Shape 12"/>
          <p:cNvSpPr/>
          <p:nvPr/>
        </p:nvSpPr>
        <p:spPr>
          <a:xfrm>
            <a:off x="822960" y="3655080"/>
            <a:ext cx="1736640" cy="240840"/>
          </a:xfrm>
          <a:prstGeom prst="roundRect">
            <a:avLst>
              <a:gd name="adj" fmla="val 40000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8D99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13"/>
          <p:cNvSpPr/>
          <p:nvPr/>
        </p:nvSpPr>
        <p:spPr>
          <a:xfrm>
            <a:off x="822960" y="3655080"/>
            <a:ext cx="17366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Referencia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4"/>
          <p:cNvSpPr/>
          <p:nvPr/>
        </p:nvSpPr>
        <p:spPr>
          <a:xfrm>
            <a:off x="3200400" y="1440720"/>
            <a:ext cx="2632680" cy="3058920"/>
          </a:xfrm>
          <a:prstGeom prst="roundRect">
            <a:avLst>
              <a:gd name="adj" fmla="val 41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8D99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5"/>
          <p:cNvSpPr/>
          <p:nvPr/>
        </p:nvSpPr>
        <p:spPr>
          <a:xfrm>
            <a:off x="3200400" y="1281960"/>
            <a:ext cx="2632680" cy="2570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6"/>
          <p:cNvSpPr/>
          <p:nvPr/>
        </p:nvSpPr>
        <p:spPr>
          <a:xfrm>
            <a:off x="3291840" y="1297800"/>
            <a:ext cx="2449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1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BASELINE 2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7"/>
          <p:cNvSpPr/>
          <p:nvPr/>
        </p:nvSpPr>
        <p:spPr>
          <a:xfrm>
            <a:off x="3291840" y="1604160"/>
            <a:ext cx="24498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Regresión Lineal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Múltiple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8"/>
          <p:cNvSpPr/>
          <p:nvPr/>
        </p:nvSpPr>
        <p:spPr>
          <a:xfrm>
            <a:off x="3291840" y="2151720"/>
            <a:ext cx="2449800" cy="417960"/>
          </a:xfrm>
          <a:prstGeom prst="roundRect">
            <a:avLst>
              <a:gd name="adj" fmla="val 2307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9"/>
          <p:cNvSpPr/>
          <p:nvPr/>
        </p:nvSpPr>
        <p:spPr>
          <a:xfrm>
            <a:off x="3364920" y="2167920"/>
            <a:ext cx="22852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R²  0.1818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20"/>
          <p:cNvSpPr/>
          <p:nvPr/>
        </p:nvSpPr>
        <p:spPr>
          <a:xfrm>
            <a:off x="3364920" y="2360880"/>
            <a:ext cx="22852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RMSE  2.434 uds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21"/>
          <p:cNvSpPr/>
          <p:nvPr/>
        </p:nvSpPr>
        <p:spPr>
          <a:xfrm>
            <a:off x="3291840" y="2634840"/>
            <a:ext cx="2449800" cy="12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Backward Elimination (p&lt;0.05)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Mes + Precio + Año + Macro_Familia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CV 5-Fold: RMSE = 2.45 ± 0.01 uds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Shape 22"/>
          <p:cNvSpPr/>
          <p:nvPr/>
        </p:nvSpPr>
        <p:spPr>
          <a:xfrm>
            <a:off x="3657600" y="3655080"/>
            <a:ext cx="1736640" cy="240840"/>
          </a:xfrm>
          <a:prstGeom prst="roundRect">
            <a:avLst>
              <a:gd name="adj" fmla="val 40000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3"/>
          <p:cNvSpPr/>
          <p:nvPr/>
        </p:nvSpPr>
        <p:spPr>
          <a:xfrm>
            <a:off x="3657600" y="3655080"/>
            <a:ext cx="17366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Modelo Clásico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24"/>
          <p:cNvSpPr/>
          <p:nvPr/>
        </p:nvSpPr>
        <p:spPr>
          <a:xfrm>
            <a:off x="6035040" y="1440720"/>
            <a:ext cx="2632680" cy="3058920"/>
          </a:xfrm>
          <a:prstGeom prst="roundRect">
            <a:avLst>
              <a:gd name="adj" fmla="val 416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25"/>
          <p:cNvSpPr/>
          <p:nvPr/>
        </p:nvSpPr>
        <p:spPr>
          <a:xfrm>
            <a:off x="6035040" y="1281960"/>
            <a:ext cx="2632680" cy="25704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6"/>
          <p:cNvSpPr/>
          <p:nvPr/>
        </p:nvSpPr>
        <p:spPr>
          <a:xfrm>
            <a:off x="6126480" y="1297800"/>
            <a:ext cx="2449800" cy="22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19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CAMPEÓN ★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7"/>
          <p:cNvSpPr/>
          <p:nvPr/>
        </p:nvSpPr>
        <p:spPr>
          <a:xfrm>
            <a:off x="6126480" y="1604160"/>
            <a:ext cx="2449800" cy="48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LightGBM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AutoML PyCaret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28"/>
          <p:cNvSpPr/>
          <p:nvPr/>
        </p:nvSpPr>
        <p:spPr>
          <a:xfrm>
            <a:off x="6126480" y="2151720"/>
            <a:ext cx="2449800" cy="417960"/>
          </a:xfrm>
          <a:prstGeom prst="roundRect">
            <a:avLst>
              <a:gd name="adj" fmla="val 23077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9"/>
          <p:cNvSpPr/>
          <p:nvPr/>
        </p:nvSpPr>
        <p:spPr>
          <a:xfrm>
            <a:off x="6199560" y="2167920"/>
            <a:ext cx="22852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CAF0F8"/>
                </a:solidFill>
                <a:effectLst/>
                <a:uFillTx/>
                <a:latin typeface="Calibri"/>
                <a:ea typeface="Calibri"/>
              </a:rPr>
              <a:t>R²  0.1195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0"/>
          <p:cNvSpPr/>
          <p:nvPr/>
        </p:nvSpPr>
        <p:spPr>
          <a:xfrm>
            <a:off x="6199560" y="2360880"/>
            <a:ext cx="2285280" cy="17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RMSE  2.525 uds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31"/>
          <p:cNvSpPr/>
          <p:nvPr/>
        </p:nvSpPr>
        <p:spPr>
          <a:xfrm>
            <a:off x="6126480" y="2634840"/>
            <a:ext cx="2449800" cy="127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Robust Scaler + Quantile Transform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Purga 5% outliers + Feature Selection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5-Fold CV | Modelo pkl en producción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32"/>
          <p:cNvSpPr/>
          <p:nvPr/>
        </p:nvSpPr>
        <p:spPr>
          <a:xfrm>
            <a:off x="6492240" y="3655080"/>
            <a:ext cx="1736640" cy="240840"/>
          </a:xfrm>
          <a:prstGeom prst="roundRect">
            <a:avLst>
              <a:gd name="adj" fmla="val 40000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33"/>
          <p:cNvSpPr/>
          <p:nvPr/>
        </p:nvSpPr>
        <p:spPr>
          <a:xfrm>
            <a:off x="6492240" y="3655080"/>
            <a:ext cx="1736640" cy="240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Producción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34"/>
          <p:cNvSpPr/>
          <p:nvPr/>
        </p:nvSpPr>
        <p:spPr>
          <a:xfrm>
            <a:off x="365760" y="4596840"/>
            <a:ext cx="8411760" cy="297000"/>
          </a:xfrm>
          <a:prstGeom prst="roundRect">
            <a:avLst>
              <a:gd name="adj" fmla="val 17143"/>
            </a:avLst>
          </a:prstGeom>
          <a:solidFill>
            <a:srgbClr val="2A3550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35"/>
          <p:cNvSpPr/>
          <p:nvPr/>
        </p:nvSpPr>
        <p:spPr>
          <a:xfrm>
            <a:off x="457200" y="4596840"/>
            <a:ext cx="8228880" cy="29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📝  Nota Metodológica (Secc. 9.3 del notebook): R² reorientado a RMSE — en datos con alta variabilidad individual, RMSE representa mejor el valor operativo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36"/>
          <p:cNvSpPr/>
          <p:nvPr/>
        </p:nvSpPr>
        <p:spPr>
          <a:xfrm>
            <a:off x="365760" y="4881240"/>
            <a:ext cx="8411760" cy="15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37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6/18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04 • VALIDACIÓN OUT-OF-TIME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2,097 transacciones que el modelo nunca vio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3"/>
          <p:cNvSpPr/>
          <p:nvPr/>
        </p:nvSpPr>
        <p:spPr>
          <a:xfrm>
            <a:off x="365760" y="118872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Blind Test OOT — Carnaval 2026 (19 enero – 28 febrero) | Datos completamente separados del entrenamiento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215" name="Table 0"/>
          <p:cNvGraphicFramePr/>
          <p:nvPr/>
        </p:nvGraphicFramePr>
        <p:xfrm>
          <a:off x="365760" y="1444680"/>
          <a:ext cx="8412120" cy="2083680"/>
        </p:xfrm>
        <a:graphic>
          <a:graphicData uri="http://schemas.openxmlformats.org/drawingml/2006/table">
            <a:tbl>
              <a:tblPr/>
              <a:tblGrid>
                <a:gridCol w="3474720"/>
                <a:gridCol w="2194560"/>
                <a:gridCol w="1828800"/>
                <a:gridCol w="914400"/>
              </a:tblGrid>
              <a:tr h="52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pc="79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MODELO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TASA ACIERTOS (±15%)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RMSE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TIPO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</a:tr>
              <a:tr h="52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Regresión Lineal Simple (Precio)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56.13%</a:t>
                      </a:r>
                      <a:endParaRPr lang="es-MX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5.60 uds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8D99AE"/>
                          </a:solidFill>
                          <a:effectLst/>
                          <a:uFillTx/>
                          <a:latin typeface="Calibri"/>
                        </a:rPr>
                        <a:t>Baseline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52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Regresión Múltiple  ★ Mejor Tasa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600" b="1" u="none" strike="noStrike">
                          <a:solidFill>
                            <a:srgbClr val="AAFFAA"/>
                          </a:solidFill>
                          <a:effectLst/>
                          <a:uFillTx/>
                          <a:latin typeface="Calibri"/>
                        </a:rPr>
                        <a:t>63.47%</a:t>
                      </a:r>
                      <a:endParaRPr lang="es-MX" sz="16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5.32 uds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3A2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AAFFAA"/>
                          </a:solidFill>
                          <a:effectLst/>
                          <a:uFillTx/>
                          <a:latin typeface="Calibri"/>
                        </a:rPr>
                        <a:t>Estadístico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3A2A"/>
                    </a:solidFill>
                  </a:tcPr>
                </a:tc>
              </a:tr>
              <a:tr h="52092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LightGBM — AutoML PyCaret</a:t>
                      </a:r>
                      <a:endParaRPr lang="es-MX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E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5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53.93%</a:t>
                      </a:r>
                      <a:endParaRPr lang="es-MX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E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3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5.53 uds</a:t>
                      </a:r>
                      <a:endParaRPr lang="es-MX" sz="13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E4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Producción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E48"/>
                    </a:solidFill>
                  </a:tcPr>
                </a:tc>
              </a:tr>
            </a:tbl>
          </a:graphicData>
        </a:graphic>
      </p:graphicFrame>
      <p:sp>
        <p:nvSpPr>
          <p:cNvPr id="216" name="Shape 4"/>
          <p:cNvSpPr/>
          <p:nvPr/>
        </p:nvSpPr>
        <p:spPr>
          <a:xfrm>
            <a:off x="365760" y="3657600"/>
            <a:ext cx="8411760" cy="895320"/>
          </a:xfrm>
          <a:prstGeom prst="roundRect">
            <a:avLst>
              <a:gd name="adj" fmla="val 1224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5"/>
          <p:cNvSpPr/>
          <p:nvPr/>
        </p:nvSpPr>
        <p:spPr>
          <a:xfrm>
            <a:off x="365760" y="3657600"/>
            <a:ext cx="63360" cy="895320"/>
          </a:xfrm>
          <a:prstGeom prst="rect">
            <a:avLst/>
          </a:prstGeom>
          <a:solidFill>
            <a:srgbClr val="90E0E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6"/>
          <p:cNvSpPr/>
          <p:nvPr/>
        </p:nvSpPr>
        <p:spPr>
          <a:xfrm>
            <a:off x="511920" y="3712320"/>
            <a:ext cx="82288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Hallazgo honesto (Sección 9.3 del notebook):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7"/>
          <p:cNvSpPr/>
          <p:nvPr/>
        </p:nvSpPr>
        <p:spPr>
          <a:xfrm>
            <a:off x="511920" y="3968640"/>
            <a:ext cx="8228880" cy="5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La Regresión Múltiple supera al AutoML en Tasa de Aciertos en datos sintéticos (63.47% vs 53.93%). Esto no invalida el LightGBM: en datos reales con variabilidad de comportamiento humano, los modelos de ensamble son esperablemente superiores. El RMSE fue el criterio de selección.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8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9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7/18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 • POWER BI — PÁGINA 1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"/>
          <p:cNvSpPr/>
          <p:nvPr/>
        </p:nvSpPr>
        <p:spPr>
          <a:xfrm>
            <a:off x="365760" y="43848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Home — Identidad y Navegación del Dashboard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"/>
          <p:cNvSpPr/>
          <p:nvPr/>
        </p:nvSpPr>
        <p:spPr>
          <a:xfrm>
            <a:off x="365760" y="932760"/>
            <a:ext cx="8411760" cy="32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27080" tIns="127080" rIns="127080" bIns="127080" anchor="ctr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Shape 5"/>
          <p:cNvSpPr/>
          <p:nvPr/>
        </p:nvSpPr>
        <p:spPr>
          <a:xfrm>
            <a:off x="365760" y="4279320"/>
            <a:ext cx="162684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6"/>
          <p:cNvSpPr/>
          <p:nvPr/>
        </p:nvSpPr>
        <p:spPr>
          <a:xfrm>
            <a:off x="420480" y="4279320"/>
            <a:ext cx="151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Identidad: PIDA CDS TLG 2025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7"/>
          <p:cNvSpPr/>
          <p:nvPr/>
        </p:nvSpPr>
        <p:spPr>
          <a:xfrm>
            <a:off x="2084760" y="4279320"/>
            <a:ext cx="162684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 8"/>
          <p:cNvSpPr/>
          <p:nvPr/>
        </p:nvSpPr>
        <p:spPr>
          <a:xfrm>
            <a:off x="2139840" y="4279320"/>
            <a:ext cx="151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Logo Tec / The Learning Gate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Shape 9"/>
          <p:cNvSpPr/>
          <p:nvPr/>
        </p:nvSpPr>
        <p:spPr>
          <a:xfrm>
            <a:off x="3803760" y="4279320"/>
            <a:ext cx="162684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10"/>
          <p:cNvSpPr/>
          <p:nvPr/>
        </p:nvSpPr>
        <p:spPr>
          <a:xfrm>
            <a:off x="3858840" y="4279320"/>
            <a:ext cx="151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Tema visual — Carnaval Tlaxcala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11"/>
          <p:cNvSpPr/>
          <p:nvPr/>
        </p:nvSpPr>
        <p:spPr>
          <a:xfrm>
            <a:off x="5523120" y="4279320"/>
            <a:ext cx="162684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12"/>
          <p:cNvSpPr/>
          <p:nvPr/>
        </p:nvSpPr>
        <p:spPr>
          <a:xfrm>
            <a:off x="5577840" y="4279320"/>
            <a:ext cx="151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Page Navigator → Diagnóstico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13"/>
          <p:cNvSpPr/>
          <p:nvPr/>
        </p:nvSpPr>
        <p:spPr>
          <a:xfrm>
            <a:off x="7242120" y="4279320"/>
            <a:ext cx="162684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 14"/>
          <p:cNvSpPr/>
          <p:nvPr/>
        </p:nvSpPr>
        <p:spPr>
          <a:xfrm>
            <a:off x="7296840" y="4279320"/>
            <a:ext cx="151704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Page Navigator → Optimización ML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 15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16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8/18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38" name=""/>
          <p:cNvPicPr/>
          <p:nvPr/>
        </p:nvPicPr>
        <p:blipFill>
          <a:blip r:embed="rId1"/>
          <a:stretch/>
        </p:blipFill>
        <p:spPr>
          <a:xfrm>
            <a:off x="360000" y="1051920"/>
            <a:ext cx="8459640" cy="3087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 • POWER BI — PÁGINA 2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Diagnóstico — Evaluación Histórica 2022–2025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2" name="Shape 5"/>
          <p:cNvSpPr/>
          <p:nvPr/>
        </p:nvSpPr>
        <p:spPr>
          <a:xfrm>
            <a:off x="6446520" y="1238400"/>
            <a:ext cx="2303640" cy="712440"/>
          </a:xfrm>
          <a:prstGeom prst="roundRect">
            <a:avLst>
              <a:gd name="adj" fmla="val 1538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6510600" y="1238400"/>
            <a:ext cx="2175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$43.4M MXN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Ingreso Bruto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6446520" y="2061360"/>
            <a:ext cx="2303640" cy="712440"/>
          </a:xfrm>
          <a:prstGeom prst="roundRect">
            <a:avLst>
              <a:gd name="adj" fmla="val 1538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8"/>
          <p:cNvSpPr/>
          <p:nvPr/>
        </p:nvSpPr>
        <p:spPr>
          <a:xfrm>
            <a:off x="6510600" y="2061360"/>
            <a:ext cx="2175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30,435 Quiebres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 Stock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9"/>
          <p:cNvSpPr/>
          <p:nvPr/>
        </p:nvSpPr>
        <p:spPr>
          <a:xfrm>
            <a:off x="6446520" y="2884320"/>
            <a:ext cx="2303640" cy="712440"/>
          </a:xfrm>
          <a:prstGeom prst="roundRect">
            <a:avLst>
              <a:gd name="adj" fmla="val 1538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7" name="Text 10"/>
          <p:cNvSpPr/>
          <p:nvPr/>
        </p:nvSpPr>
        <p:spPr>
          <a:xfrm>
            <a:off x="6510600" y="2884320"/>
            <a:ext cx="2175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70.57%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Colores Especiales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8" name="Shape 11"/>
          <p:cNvSpPr/>
          <p:nvPr/>
        </p:nvSpPr>
        <p:spPr>
          <a:xfrm>
            <a:off x="6446520" y="3707280"/>
            <a:ext cx="2303640" cy="712440"/>
          </a:xfrm>
          <a:prstGeom prst="roundRect">
            <a:avLst>
              <a:gd name="adj" fmla="val 1538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12"/>
          <p:cNvSpPr/>
          <p:nvPr/>
        </p:nvSpPr>
        <p:spPr>
          <a:xfrm>
            <a:off x="6510600" y="3707280"/>
            <a:ext cx="2175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Filtros: Año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Mes · Familia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3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4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9/18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52" name=""/>
          <p:cNvPicPr/>
          <p:nvPr/>
        </p:nvPicPr>
        <p:blipFill>
          <a:blip r:embed="rId1"/>
          <a:stretch/>
        </p:blipFill>
        <p:spPr>
          <a:xfrm>
            <a:off x="385560" y="1080000"/>
            <a:ext cx="5914080" cy="35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05 • POWER BI — PÁGINA 3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5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Optimización de Flujo de Caja — Prescripción ML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6446520" y="1238400"/>
            <a:ext cx="2303640" cy="712440"/>
          </a:xfrm>
          <a:prstGeom prst="roundRect">
            <a:avLst>
              <a:gd name="adj" fmla="val 1538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6"/>
          <p:cNvSpPr/>
          <p:nvPr/>
        </p:nvSpPr>
        <p:spPr>
          <a:xfrm>
            <a:off x="6510600" y="1238400"/>
            <a:ext cx="2175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$10,876.00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Predicción IA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7"/>
          <p:cNvSpPr/>
          <p:nvPr/>
        </p:nvSpPr>
        <p:spPr>
          <a:xfrm>
            <a:off x="6446520" y="2061360"/>
            <a:ext cx="2303640" cy="712440"/>
          </a:xfrm>
          <a:prstGeom prst="roundRect">
            <a:avLst>
              <a:gd name="adj" fmla="val 1538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8"/>
          <p:cNvSpPr/>
          <p:nvPr/>
        </p:nvSpPr>
        <p:spPr>
          <a:xfrm>
            <a:off x="6510600" y="2061360"/>
            <a:ext cx="2175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$172,875 MXN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Inversión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Shape 9"/>
          <p:cNvSpPr/>
          <p:nvPr/>
        </p:nvSpPr>
        <p:spPr>
          <a:xfrm>
            <a:off x="6446520" y="2884320"/>
            <a:ext cx="2303640" cy="712440"/>
          </a:xfrm>
          <a:prstGeom prst="roundRect">
            <a:avLst>
              <a:gd name="adj" fmla="val 1538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10"/>
          <p:cNvSpPr/>
          <p:nvPr/>
        </p:nvSpPr>
        <p:spPr>
          <a:xfrm>
            <a:off x="6510600" y="2884320"/>
            <a:ext cx="2175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$721,21 MXN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Ganancia Proy.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Shape 11"/>
          <p:cNvSpPr/>
          <p:nvPr/>
        </p:nvSpPr>
        <p:spPr>
          <a:xfrm>
            <a:off x="6446520" y="3707280"/>
            <a:ext cx="2303640" cy="712440"/>
          </a:xfrm>
          <a:prstGeom prst="roundRect">
            <a:avLst>
              <a:gd name="adj" fmla="val 1538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2"/>
          <p:cNvSpPr/>
          <p:nvPr/>
        </p:nvSpPr>
        <p:spPr>
          <a:xfrm>
            <a:off x="6510600" y="3707280"/>
            <a:ext cx="217548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tIns="50760" rIns="50760" bIns="5076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🔴🟡🟢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Semáforo de Compra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13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14"/>
          <p:cNvSpPr/>
          <p:nvPr/>
        </p:nvSpPr>
        <p:spPr>
          <a:xfrm>
            <a:off x="8640000" y="4873680"/>
            <a:ext cx="457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10/18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66" name=""/>
          <p:cNvPicPr/>
          <p:nvPr/>
        </p:nvPicPr>
        <p:blipFill>
          <a:blip r:embed="rId1"/>
          <a:stretch/>
        </p:blipFill>
        <p:spPr>
          <a:xfrm>
            <a:off x="385560" y="1080000"/>
            <a:ext cx="5914080" cy="3599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 • ARQUITECTURA TÉCNICA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Del dato crudo a la prescripción en producción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365760" y="1417320"/>
            <a:ext cx="1352520" cy="922680"/>
          </a:xfrm>
          <a:prstGeom prst="roundRect">
            <a:avLst>
              <a:gd name="adj" fmla="val 10169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8D99A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1" name="Text 4"/>
          <p:cNvSpPr/>
          <p:nvPr/>
        </p:nvSpPr>
        <p:spPr>
          <a:xfrm>
            <a:off x="365760" y="1448640"/>
            <a:ext cx="1352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5"/>
          <p:cNvSpPr/>
          <p:nvPr/>
        </p:nvSpPr>
        <p:spPr>
          <a:xfrm>
            <a:off x="365760" y="1683360"/>
            <a:ext cx="135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Datos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Simulados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6"/>
          <p:cNvSpPr/>
          <p:nvPr/>
        </p:nvSpPr>
        <p:spPr>
          <a:xfrm>
            <a:off x="365760" y="2388960"/>
            <a:ext cx="1352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113,800 trans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7,735 SKUs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1719000" y="1761840"/>
            <a:ext cx="1090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5" name="Shape 8"/>
          <p:cNvSpPr/>
          <p:nvPr/>
        </p:nvSpPr>
        <p:spPr>
          <a:xfrm>
            <a:off x="1828800" y="1417320"/>
            <a:ext cx="1352520" cy="922680"/>
          </a:xfrm>
          <a:prstGeom prst="roundRect">
            <a:avLst>
              <a:gd name="adj" fmla="val 10169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9"/>
          <p:cNvSpPr/>
          <p:nvPr/>
        </p:nvSpPr>
        <p:spPr>
          <a:xfrm>
            <a:off x="1828800" y="1448640"/>
            <a:ext cx="1352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10"/>
          <p:cNvSpPr/>
          <p:nvPr/>
        </p:nvSpPr>
        <p:spPr>
          <a:xfrm>
            <a:off x="1828800" y="1683360"/>
            <a:ext cx="135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Engineering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11"/>
          <p:cNvSpPr/>
          <p:nvPr/>
        </p:nvSpPr>
        <p:spPr>
          <a:xfrm>
            <a:off x="1828800" y="2388960"/>
            <a:ext cx="1352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Mes·Dia·Festivo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Merge maestro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3182040" y="1761840"/>
            <a:ext cx="1090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13"/>
          <p:cNvSpPr/>
          <p:nvPr/>
        </p:nvSpPr>
        <p:spPr>
          <a:xfrm>
            <a:off x="3291840" y="1417320"/>
            <a:ext cx="1352520" cy="922680"/>
          </a:xfrm>
          <a:prstGeom prst="roundRect">
            <a:avLst>
              <a:gd name="adj" fmla="val 10169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4"/>
          <p:cNvSpPr/>
          <p:nvPr/>
        </p:nvSpPr>
        <p:spPr>
          <a:xfrm>
            <a:off x="3291840" y="1448640"/>
            <a:ext cx="1352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5"/>
          <p:cNvSpPr/>
          <p:nvPr/>
        </p:nvSpPr>
        <p:spPr>
          <a:xfrm>
            <a:off x="3291840" y="1683360"/>
            <a:ext cx="135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AutoML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PyCaret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6"/>
          <p:cNvSpPr/>
          <p:nvPr/>
        </p:nvSpPr>
        <p:spPr>
          <a:xfrm>
            <a:off x="3291840" y="2388960"/>
            <a:ext cx="1352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15+ algos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5-Fold CV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7"/>
          <p:cNvSpPr/>
          <p:nvPr/>
        </p:nvSpPr>
        <p:spPr>
          <a:xfrm>
            <a:off x="4645080" y="1761840"/>
            <a:ext cx="1090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8"/>
          <p:cNvSpPr/>
          <p:nvPr/>
        </p:nvSpPr>
        <p:spPr>
          <a:xfrm>
            <a:off x="4754880" y="1417320"/>
            <a:ext cx="1352520" cy="922680"/>
          </a:xfrm>
          <a:prstGeom prst="roundRect">
            <a:avLst>
              <a:gd name="adj" fmla="val 10169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9"/>
          <p:cNvSpPr/>
          <p:nvPr/>
        </p:nvSpPr>
        <p:spPr>
          <a:xfrm>
            <a:off x="4754880" y="1448640"/>
            <a:ext cx="1352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20"/>
          <p:cNvSpPr/>
          <p:nvPr/>
        </p:nvSpPr>
        <p:spPr>
          <a:xfrm>
            <a:off x="4754880" y="1683360"/>
            <a:ext cx="135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Modelo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.pkl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21"/>
          <p:cNvSpPr/>
          <p:nvPr/>
        </p:nvSpPr>
        <p:spPr>
          <a:xfrm>
            <a:off x="4754880" y="2388960"/>
            <a:ext cx="1352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Pipeline completo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Robust+Quantile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6108120" y="1761840"/>
            <a:ext cx="1090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Shape 23"/>
          <p:cNvSpPr/>
          <p:nvPr/>
        </p:nvSpPr>
        <p:spPr>
          <a:xfrm>
            <a:off x="6217920" y="1417320"/>
            <a:ext cx="1352520" cy="922680"/>
          </a:xfrm>
          <a:prstGeom prst="roundRect">
            <a:avLst>
              <a:gd name="adj" fmla="val 10169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4"/>
          <p:cNvSpPr/>
          <p:nvPr/>
        </p:nvSpPr>
        <p:spPr>
          <a:xfrm>
            <a:off x="6217920" y="1448640"/>
            <a:ext cx="1352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2" name="Text 25"/>
          <p:cNvSpPr/>
          <p:nvPr/>
        </p:nvSpPr>
        <p:spPr>
          <a:xfrm>
            <a:off x="6217920" y="1683360"/>
            <a:ext cx="135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Power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Query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26"/>
          <p:cNvSpPr/>
          <p:nvPr/>
        </p:nvSpPr>
        <p:spPr>
          <a:xfrm>
            <a:off x="6217920" y="2388960"/>
            <a:ext cx="1352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predict_model()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Inferencia live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27"/>
          <p:cNvSpPr/>
          <p:nvPr/>
        </p:nvSpPr>
        <p:spPr>
          <a:xfrm>
            <a:off x="7571160" y="1761840"/>
            <a:ext cx="10908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MX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5" name="Shape 28"/>
          <p:cNvSpPr/>
          <p:nvPr/>
        </p:nvSpPr>
        <p:spPr>
          <a:xfrm>
            <a:off x="7680960" y="1417320"/>
            <a:ext cx="1352520" cy="922680"/>
          </a:xfrm>
          <a:prstGeom prst="roundRect">
            <a:avLst>
              <a:gd name="adj" fmla="val 10169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29"/>
          <p:cNvSpPr/>
          <p:nvPr/>
        </p:nvSpPr>
        <p:spPr>
          <a:xfrm>
            <a:off x="7680960" y="1448640"/>
            <a:ext cx="1352520" cy="21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30"/>
          <p:cNvSpPr/>
          <p:nvPr/>
        </p:nvSpPr>
        <p:spPr>
          <a:xfrm>
            <a:off x="7680960" y="1683360"/>
            <a:ext cx="1352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Dashboard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Power BI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31"/>
          <p:cNvSpPr/>
          <p:nvPr/>
        </p:nvSpPr>
        <p:spPr>
          <a:xfrm>
            <a:off x="7680960" y="2388960"/>
            <a:ext cx="135252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DAX·KPIs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Semáforo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2"/>
          <p:cNvSpPr/>
          <p:nvPr/>
        </p:nvSpPr>
        <p:spPr>
          <a:xfrm>
            <a:off x="365760" y="2816280"/>
            <a:ext cx="8411760" cy="1901160"/>
          </a:xfrm>
          <a:prstGeom prst="roundRect">
            <a:avLst>
              <a:gd name="adj" fmla="val 5769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33"/>
          <p:cNvSpPr/>
          <p:nvPr/>
        </p:nvSpPr>
        <p:spPr>
          <a:xfrm>
            <a:off x="511920" y="287136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Decisiones técnicas clave — resueltas durante el desarrollo: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Shape 34"/>
          <p:cNvSpPr/>
          <p:nvPr/>
        </p:nvSpPr>
        <p:spPr>
          <a:xfrm>
            <a:off x="511920" y="3200400"/>
            <a:ext cx="182160" cy="18216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35"/>
          <p:cNvSpPr/>
          <p:nvPr/>
        </p:nvSpPr>
        <p:spPr>
          <a:xfrm>
            <a:off x="768240" y="3182040"/>
            <a:ext cx="2193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Bug Microsoft.OleDb.Date: 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6"/>
          <p:cNvSpPr/>
          <p:nvPr/>
        </p:nvSpPr>
        <p:spPr>
          <a:xfrm>
            <a:off x="2980800" y="3182040"/>
            <a:ext cx="5668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Columna Fecha convertida a texto en Power Query para compatibilidad Python↔Power BI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37"/>
          <p:cNvSpPr/>
          <p:nvPr/>
        </p:nvSpPr>
        <p:spPr>
          <a:xfrm>
            <a:off x="511920" y="3566160"/>
            <a:ext cx="182160" cy="182160"/>
          </a:xfrm>
          <a:prstGeom prst="ellipse">
            <a:avLst/>
          </a:prstGeom>
          <a:solidFill>
            <a:srgbClr val="E6394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38"/>
          <p:cNvSpPr/>
          <p:nvPr/>
        </p:nvSpPr>
        <p:spPr>
          <a:xfrm>
            <a:off x="768240" y="3547800"/>
            <a:ext cx="2193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Producto Cartesiano en DAX: 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39"/>
          <p:cNvSpPr/>
          <p:nvPr/>
        </p:nvSpPr>
        <p:spPr>
          <a:xfrm>
            <a:off x="2980800" y="3547800"/>
            <a:ext cx="5668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Resuelto con CONTAINSSTRING en relaciones entre tablas de dimensiones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7" name="Shape 40"/>
          <p:cNvSpPr/>
          <p:nvPr/>
        </p:nvSpPr>
        <p:spPr>
          <a:xfrm>
            <a:off x="511920" y="3931920"/>
            <a:ext cx="182160" cy="1821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Text 41"/>
          <p:cNvSpPr/>
          <p:nvPr/>
        </p:nvSpPr>
        <p:spPr>
          <a:xfrm>
            <a:off x="768240" y="3913560"/>
            <a:ext cx="2193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Semáforo por percentiles: 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 42"/>
          <p:cNvSpPr/>
          <p:nvPr/>
        </p:nvSpPr>
        <p:spPr>
          <a:xfrm>
            <a:off x="2980800" y="3913560"/>
            <a:ext cx="5668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En lugar de umbrales fijos — robusto ante cambios de volumen al migrar a datos reales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43"/>
          <p:cNvSpPr/>
          <p:nvPr/>
        </p:nvSpPr>
        <p:spPr>
          <a:xfrm>
            <a:off x="511920" y="4297680"/>
            <a:ext cx="182160" cy="182160"/>
          </a:xfrm>
          <a:prstGeom prst="ellipse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44"/>
          <p:cNvSpPr/>
          <p:nvPr/>
        </p:nvSpPr>
        <p:spPr>
          <a:xfrm>
            <a:off x="768240" y="4279320"/>
            <a:ext cx="219384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AutoFE desactivado: 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45"/>
          <p:cNvSpPr/>
          <p:nvPr/>
        </p:nvSpPr>
        <p:spPr>
          <a:xfrm>
            <a:off x="2980800" y="4279320"/>
            <a:ext cx="566856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Decisión de trazabilidad con datos sintéticos (evita amplificar patrones del simulador)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46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4" name="Text 47"/>
          <p:cNvSpPr/>
          <p:nvPr/>
        </p:nvSpPr>
        <p:spPr>
          <a:xfrm>
            <a:off x="8640000" y="4873680"/>
            <a:ext cx="457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11/18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 • FÓRMULAS DAX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Las 4 fórmulas DAX que hacen funcionar el dashboard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"/>
          <p:cNvSpPr/>
          <p:nvPr/>
        </p:nvSpPr>
        <p:spPr>
          <a:xfrm>
            <a:off x="365760" y="1389960"/>
            <a:ext cx="4159800" cy="1535400"/>
          </a:xfrm>
          <a:prstGeom prst="roundRect">
            <a:avLst>
              <a:gd name="adj" fmla="val 7143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4"/>
          <p:cNvSpPr/>
          <p:nvPr/>
        </p:nvSpPr>
        <p:spPr>
          <a:xfrm>
            <a:off x="475560" y="1481400"/>
            <a:ext cx="3940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SUMX — Inversión Sugerida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5"/>
          <p:cNvSpPr/>
          <p:nvPr/>
        </p:nvSpPr>
        <p:spPr>
          <a:xfrm>
            <a:off x="457200" y="1719720"/>
            <a:ext cx="3976920" cy="943920"/>
          </a:xfrm>
          <a:prstGeom prst="roundRect">
            <a:avLst>
              <a:gd name="adj" fmla="val 12195"/>
            </a:avLst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594360" y="1721520"/>
            <a:ext cx="37026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Inversion_Sugerida =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SUMX(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DATASET_ML_OOT,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[Prediccion_IA] *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[Costo_Unitario_Proveedor]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475560" y="2613960"/>
            <a:ext cx="3940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Itera fila×fila: unidades predichas × costo. Resultado = presupuesto exacto de compra.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3" name="Shape 8"/>
          <p:cNvSpPr/>
          <p:nvPr/>
        </p:nvSpPr>
        <p:spPr>
          <a:xfrm>
            <a:off x="4663440" y="1389960"/>
            <a:ext cx="4159800" cy="1535400"/>
          </a:xfrm>
          <a:prstGeom prst="roundRect">
            <a:avLst>
              <a:gd name="adj" fmla="val 7143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4" name="Text 9"/>
          <p:cNvSpPr/>
          <p:nvPr/>
        </p:nvSpPr>
        <p:spPr>
          <a:xfrm>
            <a:off x="4773240" y="1481400"/>
            <a:ext cx="3940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SUMX — Ganancia Proyectada ML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Shape 10"/>
          <p:cNvSpPr/>
          <p:nvPr/>
        </p:nvSpPr>
        <p:spPr>
          <a:xfrm>
            <a:off x="4754880" y="1719720"/>
            <a:ext cx="3976920" cy="943920"/>
          </a:xfrm>
          <a:prstGeom prst="roundRect">
            <a:avLst>
              <a:gd name="adj" fmla="val 12195"/>
            </a:avLst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 11"/>
          <p:cNvSpPr/>
          <p:nvPr/>
        </p:nvSpPr>
        <p:spPr>
          <a:xfrm>
            <a:off x="4892040" y="1721520"/>
            <a:ext cx="37026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Ganancia_Proyectada_ML =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SUMX(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DATASET_ML_OOT,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[Prediccion_IA] *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[Margen_Ganancia_Real]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2"/>
          <p:cNvSpPr/>
          <p:nvPr/>
        </p:nvSpPr>
        <p:spPr>
          <a:xfrm>
            <a:off x="4773240" y="2613960"/>
            <a:ext cx="3940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Proyecta el margen real por unidad sobre las unidades que el modelo predice vender.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13"/>
          <p:cNvSpPr/>
          <p:nvPr/>
        </p:nvSpPr>
        <p:spPr>
          <a:xfrm>
            <a:off x="365760" y="3090600"/>
            <a:ext cx="4159800" cy="1535400"/>
          </a:xfrm>
          <a:prstGeom prst="roundRect">
            <a:avLst>
              <a:gd name="adj" fmla="val 7143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14"/>
          <p:cNvSpPr/>
          <p:nvPr/>
        </p:nvSpPr>
        <p:spPr>
          <a:xfrm>
            <a:off x="475560" y="3182040"/>
            <a:ext cx="3940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CALCULATE — Margen Promedio Ticket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15"/>
          <p:cNvSpPr/>
          <p:nvPr/>
        </p:nvSpPr>
        <p:spPr>
          <a:xfrm>
            <a:off x="457200" y="3456360"/>
            <a:ext cx="3976920" cy="749160"/>
          </a:xfrm>
          <a:prstGeom prst="roundRect">
            <a:avLst>
              <a:gd name="adj" fmla="val 12195"/>
            </a:avLst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16"/>
          <p:cNvSpPr/>
          <p:nvPr/>
        </p:nvSpPr>
        <p:spPr>
          <a:xfrm>
            <a:off x="594360" y="3458160"/>
            <a:ext cx="37026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Margen_Ticket_Prom =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CALCULATE(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AVERAGE([Margen_Ganancia_Real]),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[Venta_Perdida] = 0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17"/>
          <p:cNvSpPr/>
          <p:nvPr/>
        </p:nvSpPr>
        <p:spPr>
          <a:xfrm>
            <a:off x="475560" y="4242960"/>
            <a:ext cx="3940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CALCULATE aplica filtro de contexto: solo calcula sobre ventas exitosas (excluye quiebres).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18"/>
          <p:cNvSpPr/>
          <p:nvPr/>
        </p:nvSpPr>
        <p:spPr>
          <a:xfrm>
            <a:off x="4663440" y="3090600"/>
            <a:ext cx="4159800" cy="1535400"/>
          </a:xfrm>
          <a:prstGeom prst="roundRect">
            <a:avLst>
              <a:gd name="adj" fmla="val 7143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19"/>
          <p:cNvSpPr/>
          <p:nvPr/>
        </p:nvSpPr>
        <p:spPr>
          <a:xfrm>
            <a:off x="4773240" y="3182040"/>
            <a:ext cx="39402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CONTAINSSTRING — Anti-Producto Cartesiano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Shape 20"/>
          <p:cNvSpPr/>
          <p:nvPr/>
        </p:nvSpPr>
        <p:spPr>
          <a:xfrm>
            <a:off x="4754880" y="3420360"/>
            <a:ext cx="3976920" cy="863280"/>
          </a:xfrm>
          <a:prstGeom prst="roundRect">
            <a:avLst>
              <a:gd name="adj" fmla="val 12195"/>
            </a:avLst>
          </a:prstGeom>
          <a:solidFill>
            <a:srgbClr val="0D1117"/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21"/>
          <p:cNvSpPr/>
          <p:nvPr/>
        </p:nvSpPr>
        <p:spPr>
          <a:xfrm>
            <a:off x="4892040" y="3422160"/>
            <a:ext cx="3702600" cy="52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25560" tIns="25560" rIns="25560" bIns="25560" anchor="t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Macro_Familia_Real =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CALCULATE(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MAX([Macro_Familia]),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FILTER(catalogo,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  CONTAINSSTRING([SKU],[Material]))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E2E8F0"/>
                </a:solidFill>
                <a:effectLst/>
                <a:uFillTx/>
                <a:latin typeface="Courier New"/>
                <a:ea typeface="Courier New"/>
              </a:rPr>
              <a:t>)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22"/>
          <p:cNvSpPr/>
          <p:nvPr/>
        </p:nvSpPr>
        <p:spPr>
          <a:xfrm>
            <a:off x="4773240" y="4242960"/>
            <a:ext cx="394020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Previene el producto cartesiano entre tablas. CONTAINSSTRING permite coincidencia parcial.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23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 24"/>
          <p:cNvSpPr/>
          <p:nvPr/>
        </p:nvSpPr>
        <p:spPr>
          <a:xfrm>
            <a:off x="8640000" y="4873680"/>
            <a:ext cx="457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12/18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06 • SEMÁFORO PRESCRIPTIVO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De la predicción ML a la decisión operativa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3" name="Shape 3"/>
          <p:cNvSpPr/>
          <p:nvPr/>
        </p:nvSpPr>
        <p:spPr>
          <a:xfrm>
            <a:off x="365760" y="1093320"/>
            <a:ext cx="8411760" cy="932040"/>
          </a:xfrm>
          <a:prstGeom prst="roundRect">
            <a:avLst>
              <a:gd name="adj" fmla="val 1176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4" name="Shape 4"/>
          <p:cNvSpPr/>
          <p:nvPr/>
        </p:nvSpPr>
        <p:spPr>
          <a:xfrm>
            <a:off x="502920" y="1276200"/>
            <a:ext cx="566280" cy="566280"/>
          </a:xfrm>
          <a:prstGeom prst="ellipse">
            <a:avLst/>
          </a:prstGeom>
          <a:solidFill>
            <a:srgbClr val="2ECC71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5"/>
          <p:cNvSpPr/>
          <p:nvPr/>
        </p:nvSpPr>
        <p:spPr>
          <a:xfrm>
            <a:off x="1188720" y="118476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2ECC71"/>
                </a:solidFill>
                <a:effectLst/>
                <a:uFillTx/>
                <a:latin typeface="Calibri"/>
                <a:ea typeface="Calibri"/>
              </a:rPr>
              <a:t>Stock Sano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 6"/>
          <p:cNvSpPr/>
          <p:nvPr/>
        </p:nvSpPr>
        <p:spPr>
          <a:xfrm>
            <a:off x="1188720" y="159624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0% – 33% del rango de predicción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7"/>
          <p:cNvSpPr/>
          <p:nvPr/>
        </p:nvSpPr>
        <p:spPr>
          <a:xfrm>
            <a:off x="3611880" y="1257840"/>
            <a:ext cx="360" cy="621720"/>
          </a:xfrm>
          <a:prstGeom prst="line">
            <a:avLst/>
          </a:prstGeom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8"/>
          <p:cNvSpPr/>
          <p:nvPr/>
        </p:nvSpPr>
        <p:spPr>
          <a:xfrm>
            <a:off x="3749040" y="1349280"/>
            <a:ext cx="4845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No comprar — inventario suficiente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9" name="Shape 9"/>
          <p:cNvSpPr/>
          <p:nvPr/>
        </p:nvSpPr>
        <p:spPr>
          <a:xfrm>
            <a:off x="365760" y="2172240"/>
            <a:ext cx="8411760" cy="932040"/>
          </a:xfrm>
          <a:prstGeom prst="roundRect">
            <a:avLst>
              <a:gd name="adj" fmla="val 1176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0" name="Shape 10"/>
          <p:cNvSpPr/>
          <p:nvPr/>
        </p:nvSpPr>
        <p:spPr>
          <a:xfrm>
            <a:off x="502920" y="2355120"/>
            <a:ext cx="566280" cy="566280"/>
          </a:xfrm>
          <a:prstGeom prst="ellipse">
            <a:avLst/>
          </a:prstGeom>
          <a:solidFill>
            <a:srgbClr val="F1C40F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1"/>
          <p:cNvSpPr/>
          <p:nvPr/>
        </p:nvSpPr>
        <p:spPr>
          <a:xfrm>
            <a:off x="1188720" y="226368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F1C40F"/>
                </a:solidFill>
                <a:effectLst/>
                <a:uFillTx/>
                <a:latin typeface="Calibri"/>
                <a:ea typeface="Calibri"/>
              </a:rPr>
              <a:t>Alerta Baja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2"/>
          <p:cNvSpPr/>
          <p:nvPr/>
        </p:nvSpPr>
        <p:spPr>
          <a:xfrm>
            <a:off x="1188720" y="267516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34% – 66% del rango de predicción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13"/>
          <p:cNvSpPr/>
          <p:nvPr/>
        </p:nvSpPr>
        <p:spPr>
          <a:xfrm>
            <a:off x="3611880" y="2336760"/>
            <a:ext cx="360" cy="621720"/>
          </a:xfrm>
          <a:prstGeom prst="line">
            <a:avLst/>
          </a:prstGeom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4" name="Text 14"/>
          <p:cNvSpPr/>
          <p:nvPr/>
        </p:nvSpPr>
        <p:spPr>
          <a:xfrm>
            <a:off x="3749040" y="2428200"/>
            <a:ext cx="4845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Compra preventiva — revisar pronóstico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15"/>
          <p:cNvSpPr/>
          <p:nvPr/>
        </p:nvSpPr>
        <p:spPr>
          <a:xfrm>
            <a:off x="365760" y="3251160"/>
            <a:ext cx="8411760" cy="932040"/>
          </a:xfrm>
          <a:prstGeom prst="roundRect">
            <a:avLst>
              <a:gd name="adj" fmla="val 1176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E6394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16"/>
          <p:cNvSpPr/>
          <p:nvPr/>
        </p:nvSpPr>
        <p:spPr>
          <a:xfrm>
            <a:off x="502920" y="3434040"/>
            <a:ext cx="566280" cy="566280"/>
          </a:xfrm>
          <a:prstGeom prst="ellipse">
            <a:avLst/>
          </a:prstGeom>
          <a:solidFill>
            <a:srgbClr val="E74C3C"/>
          </a:solidFill>
          <a:ln w="6350">
            <a:solidFill>
              <a:srgbClr val="CCCCC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17"/>
          <p:cNvSpPr/>
          <p:nvPr/>
        </p:nvSpPr>
        <p:spPr>
          <a:xfrm>
            <a:off x="1188720" y="3342600"/>
            <a:ext cx="228528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u="none" strike="noStrike">
                <a:solidFill>
                  <a:srgbClr val="E74C3C"/>
                </a:solidFill>
                <a:effectLst/>
                <a:uFillTx/>
                <a:latin typeface="Calibri"/>
                <a:ea typeface="Calibri"/>
              </a:rPr>
              <a:t>Urgencia Crítica</a:t>
            </a:r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18"/>
          <p:cNvSpPr/>
          <p:nvPr/>
        </p:nvSpPr>
        <p:spPr>
          <a:xfrm>
            <a:off x="1188720" y="3754080"/>
            <a:ext cx="228528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67% – 100% del rango de predicción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9" name="Shape 19"/>
          <p:cNvSpPr/>
          <p:nvPr/>
        </p:nvSpPr>
        <p:spPr>
          <a:xfrm>
            <a:off x="3611880" y="3415680"/>
            <a:ext cx="360" cy="621720"/>
          </a:xfrm>
          <a:prstGeom prst="line">
            <a:avLst/>
          </a:prstGeom>
          <a:ln w="1270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20"/>
          <p:cNvSpPr/>
          <p:nvPr/>
        </p:nvSpPr>
        <p:spPr>
          <a:xfrm>
            <a:off x="3749040" y="3507480"/>
            <a:ext cx="484560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Compra inmediata — riesgo de quiebre de stock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21"/>
          <p:cNvSpPr/>
          <p:nvPr/>
        </p:nvSpPr>
        <p:spPr>
          <a:xfrm>
            <a:off x="365760" y="4248000"/>
            <a:ext cx="8411760" cy="383400"/>
          </a:xfrm>
          <a:prstGeom prst="roundRect">
            <a:avLst>
              <a:gd name="adj" fmla="val 28571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 22"/>
          <p:cNvSpPr/>
          <p:nvPr/>
        </p:nvSpPr>
        <p:spPr>
          <a:xfrm>
            <a:off x="502920" y="4248000"/>
            <a:ext cx="8228880" cy="38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Diseño por percentiles (no umbrales fijos) → el semáforo funciona sin intervención técnica cuando los volúmenes cambien al migrar a datos reales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23"/>
          <p:cNvSpPr/>
          <p:nvPr/>
        </p:nvSpPr>
        <p:spPr>
          <a:xfrm>
            <a:off x="457200" y="4659480"/>
            <a:ext cx="822888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i="1" u="none" strike="noStrike">
                <a:solidFill>
                  <a:srgbClr val="E63946"/>
                </a:solidFill>
                <a:effectLst/>
                <a:uFillTx/>
                <a:latin typeface="Calibri"/>
                <a:ea typeface="Calibri"/>
              </a:rPr>
              <a:t>Urgencia Carnaval 2026:  Pedrería Cristal (1,581 uds)  ·  Pedrería Acrílico (1,545 uds)  ·  Lentejuela Plana Laser (834 uds)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24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5"/>
          <p:cNvSpPr/>
          <p:nvPr/>
        </p:nvSpPr>
        <p:spPr>
          <a:xfrm>
            <a:off x="8640000" y="4873680"/>
            <a:ext cx="457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13/18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Shape 0"/>
          <p:cNvSpPr/>
          <p:nvPr/>
        </p:nvSpPr>
        <p:spPr>
          <a:xfrm>
            <a:off x="6858000" y="-731520"/>
            <a:ext cx="3656880" cy="3656880"/>
          </a:xfrm>
          <a:prstGeom prst="ellipse">
            <a:avLst/>
          </a:prstGeom>
          <a:solidFill>
            <a:srgbClr val="FFB703">
              <a:alpha val="10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Shape 1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2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 • IMPACTO FINANCIERO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3"/>
          <p:cNvSpPr/>
          <p:nvPr/>
        </p:nvSpPr>
        <p:spPr>
          <a:xfrm>
            <a:off x="365760" y="47556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El modelo libera capital en lugar de inmovilizarlo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4"/>
          <p:cNvSpPr/>
          <p:nvPr/>
        </p:nvSpPr>
        <p:spPr>
          <a:xfrm>
            <a:off x="365760" y="987480"/>
            <a:ext cx="5028480" cy="98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6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$181,496</a:t>
            </a:r>
            <a:endParaRPr lang="es-MX" sz="6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Text 5"/>
          <p:cNvSpPr/>
          <p:nvPr/>
        </p:nvSpPr>
        <p:spPr>
          <a:xfrm>
            <a:off x="365760" y="1993320"/>
            <a:ext cx="5668560" cy="47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MXN liberados en capital de trabajo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bajo supuesto base: +40% de sobre-pedido empírico del dueño</a:t>
            </a:r>
            <a:endParaRPr lang="es-MX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6"/>
          <p:cNvSpPr/>
          <p:nvPr/>
        </p:nvSpPr>
        <p:spPr>
          <a:xfrm>
            <a:off x="365760" y="2633400"/>
            <a:ext cx="2010960" cy="1023480"/>
          </a:xfrm>
          <a:prstGeom prst="roundRect">
            <a:avLst>
              <a:gd name="adj" fmla="val 1071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3" name="Shape 7"/>
          <p:cNvSpPr/>
          <p:nvPr/>
        </p:nvSpPr>
        <p:spPr>
          <a:xfrm>
            <a:off x="365760" y="2633400"/>
            <a:ext cx="54000" cy="102348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493920" y="2706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2,039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 9"/>
          <p:cNvSpPr/>
          <p:nvPr/>
        </p:nvSpPr>
        <p:spPr>
          <a:xfrm>
            <a:off x="493920" y="320040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Unidades sobre-stock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evitadas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Shape 10"/>
          <p:cNvSpPr/>
          <p:nvPr/>
        </p:nvSpPr>
        <p:spPr>
          <a:xfrm>
            <a:off x="2541960" y="2633400"/>
            <a:ext cx="2010960" cy="1023480"/>
          </a:xfrm>
          <a:prstGeom prst="roundRect">
            <a:avLst>
              <a:gd name="adj" fmla="val 1071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FFB70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7" name="Shape 11"/>
          <p:cNvSpPr/>
          <p:nvPr/>
        </p:nvSpPr>
        <p:spPr>
          <a:xfrm>
            <a:off x="2541960" y="2633400"/>
            <a:ext cx="54000" cy="1023480"/>
          </a:xfrm>
          <a:prstGeom prst="rect">
            <a:avLst/>
          </a:prstGeom>
          <a:solidFill>
            <a:srgbClr val="FFB70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12"/>
          <p:cNvSpPr/>
          <p:nvPr/>
        </p:nvSpPr>
        <p:spPr>
          <a:xfrm>
            <a:off x="2670120" y="2706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$27,224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3"/>
          <p:cNvSpPr/>
          <p:nvPr/>
        </p:nvSpPr>
        <p:spPr>
          <a:xfrm>
            <a:off x="2670120" y="320040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Ahorro Holding Cost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MXN (15% anual)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Shape 14"/>
          <p:cNvSpPr/>
          <p:nvPr/>
        </p:nvSpPr>
        <p:spPr>
          <a:xfrm>
            <a:off x="4718160" y="2633400"/>
            <a:ext cx="2010960" cy="1023480"/>
          </a:xfrm>
          <a:prstGeom prst="roundRect">
            <a:avLst>
              <a:gd name="adj" fmla="val 1071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15"/>
          <p:cNvSpPr/>
          <p:nvPr/>
        </p:nvSpPr>
        <p:spPr>
          <a:xfrm>
            <a:off x="4718160" y="2633400"/>
            <a:ext cx="54000" cy="1023480"/>
          </a:xfrm>
          <a:prstGeom prst="rect">
            <a:avLst/>
          </a:prstGeom>
          <a:solidFill>
            <a:srgbClr val="2DC6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16"/>
          <p:cNvSpPr/>
          <p:nvPr/>
        </p:nvSpPr>
        <p:spPr>
          <a:xfrm>
            <a:off x="4846320" y="2706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+30%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3" name="Text 17"/>
          <p:cNvSpPr/>
          <p:nvPr/>
        </p:nvSpPr>
        <p:spPr>
          <a:xfrm>
            <a:off x="4846320" y="320040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Umbral de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rentabilidad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18"/>
          <p:cNvSpPr/>
          <p:nvPr/>
        </p:nvSpPr>
        <p:spPr>
          <a:xfrm>
            <a:off x="6894720" y="2633400"/>
            <a:ext cx="2010960" cy="1023480"/>
          </a:xfrm>
          <a:prstGeom prst="roundRect">
            <a:avLst>
              <a:gd name="adj" fmla="val 10714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19"/>
          <p:cNvSpPr/>
          <p:nvPr/>
        </p:nvSpPr>
        <p:spPr>
          <a:xfrm>
            <a:off x="6894720" y="2633400"/>
            <a:ext cx="54000" cy="102348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20"/>
          <p:cNvSpPr/>
          <p:nvPr/>
        </p:nvSpPr>
        <p:spPr>
          <a:xfrm>
            <a:off x="7022520" y="2706480"/>
            <a:ext cx="182808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6 de 8</a:t>
            </a:r>
            <a:endParaRPr lang="es-MX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21"/>
          <p:cNvSpPr/>
          <p:nvPr/>
        </p:nvSpPr>
        <p:spPr>
          <a:xfrm>
            <a:off x="7022520" y="3200400"/>
            <a:ext cx="1828080" cy="34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Escenarios con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ROI positivo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22"/>
          <p:cNvSpPr/>
          <p:nvPr/>
        </p:nvSpPr>
        <p:spPr>
          <a:xfrm>
            <a:off x="365760" y="3749040"/>
            <a:ext cx="8411760" cy="840600"/>
          </a:xfrm>
          <a:prstGeom prst="roundRect">
            <a:avLst>
              <a:gd name="adj" fmla="val 13043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23"/>
          <p:cNvSpPr/>
          <p:nvPr/>
        </p:nvSpPr>
        <p:spPr>
          <a:xfrm>
            <a:off x="511920" y="3803760"/>
            <a:ext cx="8228880" cy="7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F0F4F8"/>
                </a:solidFill>
                <a:effectLst/>
                <a:uFillTx/>
                <a:latin typeface="Calibri"/>
                <a:ea typeface="Calibri"/>
              </a:rPr>
              <a:t>El modelo no es solo técnicamente interesante — genera dinero real. $181,496 MXN liberados en una sola temporada de Carnaval bajo el escenario más conservador documentado. Incluso en el peor caso positivo (+30%), el ahorro es de $66,403 MXN — lo que demuestra robustez del caso de negocio.</a:t>
            </a:r>
            <a:endParaRPr lang="es-MX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24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25"/>
          <p:cNvSpPr/>
          <p:nvPr/>
        </p:nvSpPr>
        <p:spPr>
          <a:xfrm>
            <a:off x="8640000" y="4873680"/>
            <a:ext cx="457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14/18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07 • ANÁLISIS DE SENSIBILIDAD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ROI robusto — 8 escenarios evaluados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 3"/>
          <p:cNvSpPr/>
          <p:nvPr/>
        </p:nvSpPr>
        <p:spPr>
          <a:xfrm>
            <a:off x="365760" y="104472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Desde sobre-pedido conservador hasta errores de sistema (pedido doble/triple)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96" name="Table 0"/>
          <p:cNvGraphicFramePr/>
          <p:nvPr/>
        </p:nvGraphicFramePr>
        <p:xfrm>
          <a:off x="365760" y="1317960"/>
          <a:ext cx="8412120" cy="3427920"/>
        </p:xfrm>
        <a:graphic>
          <a:graphicData uri="http://schemas.openxmlformats.org/drawingml/2006/table">
            <a:tbl>
              <a:tblPr/>
              <a:tblGrid>
                <a:gridCol w="2743200"/>
                <a:gridCol w="1463040"/>
                <a:gridCol w="1828800"/>
                <a:gridCol w="1371600"/>
                <a:gridCol w="1005840"/>
              </a:tblGrid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Escenario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Uds Evitadas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Capital Liberado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Hold. Cost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90E0EF"/>
                          </a:solidFill>
                          <a:effectLst/>
                          <a:uFillTx/>
                          <a:latin typeface="Calibri"/>
                        </a:rPr>
                        <a:t>ROI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E2D4A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+10%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</a:rPr>
                        <a:t>-1,541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</a:rPr>
                        <a:t>-$137,168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</a:rPr>
                        <a:t>-$20,575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</a:rPr>
                        <a:t>✗ No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+20%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</a:rPr>
                        <a:t>-320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</a:rPr>
                        <a:t>-$28,484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</a:rPr>
                        <a:t>-$4,273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E63946"/>
                          </a:solidFill>
                          <a:effectLst/>
                          <a:uFillTx/>
                          <a:latin typeface="Calibri"/>
                        </a:rPr>
                        <a:t>✗ No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+30%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746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$66,403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$9,960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✓ Sí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+40% ★ Base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0A20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2,039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0A20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$181,496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0A20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$27,224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0A203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✓ Sí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0A2038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+60%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4,901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$436,249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$65,437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✓ Sí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</a:rPr>
                        <a:t>+80%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7,260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$646,228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$96,934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✓ Sí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1A2744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</a:rPr>
                        <a:t>+100% Pedido Duplicado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9,791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$871,518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$130,728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✓ Sí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</a:tr>
              <a:tr h="380880">
                <a:tc>
                  <a:txBody>
                    <a:bodyPr anchor="t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FFB703"/>
                          </a:solidFill>
                          <a:effectLst/>
                          <a:uFillTx/>
                          <a:latin typeface="Calibri"/>
                        </a:rPr>
                        <a:t>+200% Triple Error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22,433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$1,996,810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0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$299,522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000" b="1" u="none" strike="noStrike">
                          <a:solidFill>
                            <a:srgbClr val="2DC653"/>
                          </a:solidFill>
                          <a:effectLst/>
                          <a:uFillTx/>
                          <a:latin typeface="Calibri"/>
                        </a:rPr>
                        <a:t>✓ Sí</a:t>
                      </a:r>
                      <a:endParaRPr lang="es-MX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5040">
                      <a:solidFill>
                        <a:srgbClr val="223355"/>
                      </a:solidFill>
                      <a:prstDash val="solid"/>
                    </a:lnL>
                    <a:lnR w="5040">
                      <a:solidFill>
                        <a:srgbClr val="223355"/>
                      </a:solidFill>
                      <a:prstDash val="solid"/>
                    </a:lnR>
                    <a:lnT w="5040">
                      <a:solidFill>
                        <a:srgbClr val="223355"/>
                      </a:solidFill>
                      <a:prstDash val="solid"/>
                    </a:lnT>
                    <a:lnB w="5040">
                      <a:solidFill>
                        <a:srgbClr val="223355"/>
                      </a:solidFill>
                      <a:prstDash val="solid"/>
                    </a:lnB>
                    <a:solidFill>
                      <a:srgbClr val="2A1A08"/>
                    </a:solidFill>
                  </a:tcPr>
                </a:tc>
              </a:tr>
            </a:tbl>
          </a:graphicData>
        </a:graphic>
      </p:graphicFrame>
      <p:sp>
        <p:nvSpPr>
          <p:cNvPr id="397" name="Shape 4"/>
          <p:cNvSpPr/>
          <p:nvPr/>
        </p:nvSpPr>
        <p:spPr>
          <a:xfrm>
            <a:off x="365760" y="4573080"/>
            <a:ext cx="8411760" cy="319320"/>
          </a:xfrm>
          <a:prstGeom prst="roundRect">
            <a:avLst>
              <a:gd name="adj" fmla="val 17143"/>
            </a:avLst>
          </a:prstGeom>
          <a:solidFill>
            <a:srgbClr val="2A3550"/>
          </a:solidFill>
          <a:ln w="635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5"/>
          <p:cNvSpPr/>
          <p:nvPr/>
        </p:nvSpPr>
        <p:spPr>
          <a:xfrm>
            <a:off x="457200" y="4573080"/>
            <a:ext cx="822888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📝  +100% y +200% modelan errores de sistema (pedido duplicado/triplicado) — el modelo detecta la anomalía antes de confirmar la orden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6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 7"/>
          <p:cNvSpPr/>
          <p:nvPr/>
        </p:nvSpPr>
        <p:spPr>
          <a:xfrm>
            <a:off x="8640000" y="4873680"/>
            <a:ext cx="457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15/18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RÚBRICA CDS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Cobertura de competencias — Citizen Data Scientist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4" name="Shape 3"/>
          <p:cNvSpPr/>
          <p:nvPr/>
        </p:nvSpPr>
        <p:spPr>
          <a:xfrm>
            <a:off x="365760" y="1389960"/>
            <a:ext cx="4114080" cy="776520"/>
          </a:xfrm>
          <a:prstGeom prst="roundRect">
            <a:avLst>
              <a:gd name="adj" fmla="val 14118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5" name="Shape 4"/>
          <p:cNvSpPr/>
          <p:nvPr/>
        </p:nvSpPr>
        <p:spPr>
          <a:xfrm>
            <a:off x="365760" y="1389960"/>
            <a:ext cx="474840" cy="776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5"/>
          <p:cNvSpPr/>
          <p:nvPr/>
        </p:nvSpPr>
        <p:spPr>
          <a:xfrm>
            <a:off x="365760" y="1481400"/>
            <a:ext cx="474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1.1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6"/>
          <p:cNvSpPr/>
          <p:nvPr/>
        </p:nvSpPr>
        <p:spPr>
          <a:xfrm>
            <a:off x="365760" y="1810440"/>
            <a:ext cx="474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EXCELENTE</a:t>
            </a:r>
            <a:endParaRPr lang="es-MX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7"/>
          <p:cNvSpPr/>
          <p:nvPr/>
        </p:nvSpPr>
        <p:spPr>
          <a:xfrm>
            <a:off x="914400" y="1481400"/>
            <a:ext cx="3474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Estadística Descriptiva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9" name="Text 8"/>
          <p:cNvSpPr/>
          <p:nvPr/>
        </p:nvSpPr>
        <p:spPr>
          <a:xfrm>
            <a:off x="914400" y="173736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Sweetviz + YData-Profiling. KPIs: media, varianza, distribución por familia y periodo.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0" name="Shape 9"/>
          <p:cNvSpPr/>
          <p:nvPr/>
        </p:nvSpPr>
        <p:spPr>
          <a:xfrm>
            <a:off x="365760" y="2286000"/>
            <a:ext cx="4114080" cy="776520"/>
          </a:xfrm>
          <a:prstGeom prst="roundRect">
            <a:avLst>
              <a:gd name="adj" fmla="val 14118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1" name="Shape 10"/>
          <p:cNvSpPr/>
          <p:nvPr/>
        </p:nvSpPr>
        <p:spPr>
          <a:xfrm>
            <a:off x="365760" y="2286000"/>
            <a:ext cx="474840" cy="776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Text 11"/>
          <p:cNvSpPr/>
          <p:nvPr/>
        </p:nvSpPr>
        <p:spPr>
          <a:xfrm>
            <a:off x="365760" y="2377440"/>
            <a:ext cx="474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1.2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12"/>
          <p:cNvSpPr/>
          <p:nvPr/>
        </p:nvSpPr>
        <p:spPr>
          <a:xfrm>
            <a:off x="365760" y="2706480"/>
            <a:ext cx="474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EXCELENTE</a:t>
            </a:r>
            <a:endParaRPr lang="es-MX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4" name="Text 13"/>
          <p:cNvSpPr/>
          <p:nvPr/>
        </p:nvSpPr>
        <p:spPr>
          <a:xfrm>
            <a:off x="914400" y="2377440"/>
            <a:ext cx="3474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Estadística para CDS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5" name="Text 14"/>
          <p:cNvSpPr/>
          <p:nvPr/>
        </p:nvSpPr>
        <p:spPr>
          <a:xfrm>
            <a:off x="914400" y="263340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Welch's T-Test (T=17.30, p=6.5×10⁻⁴²). DW, Breusch-Pagan, Jarque-Bera, Cook's Distance. Backward Elimination.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6" name="Shape 15"/>
          <p:cNvSpPr/>
          <p:nvPr/>
        </p:nvSpPr>
        <p:spPr>
          <a:xfrm>
            <a:off x="365760" y="3182040"/>
            <a:ext cx="4114080" cy="776520"/>
          </a:xfrm>
          <a:prstGeom prst="roundRect">
            <a:avLst>
              <a:gd name="adj" fmla="val 14118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7" name="Shape 16"/>
          <p:cNvSpPr/>
          <p:nvPr/>
        </p:nvSpPr>
        <p:spPr>
          <a:xfrm>
            <a:off x="365760" y="3182040"/>
            <a:ext cx="474840" cy="776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7"/>
          <p:cNvSpPr/>
          <p:nvPr/>
        </p:nvSpPr>
        <p:spPr>
          <a:xfrm>
            <a:off x="365760" y="3273480"/>
            <a:ext cx="474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2.1-3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9" name="Text 18"/>
          <p:cNvSpPr/>
          <p:nvPr/>
        </p:nvSpPr>
        <p:spPr>
          <a:xfrm>
            <a:off x="365760" y="3602880"/>
            <a:ext cx="474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EXCELENTE</a:t>
            </a:r>
            <a:endParaRPr lang="es-MX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0" name="Text 19"/>
          <p:cNvSpPr/>
          <p:nvPr/>
        </p:nvSpPr>
        <p:spPr>
          <a:xfrm>
            <a:off x="914400" y="3273480"/>
            <a:ext cx="3474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Python + Pandas + Numpy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1" name="Text 20"/>
          <p:cNvSpPr/>
          <p:nvPr/>
        </p:nvSpPr>
        <p:spPr>
          <a:xfrm>
            <a:off x="914400" y="352944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113,800 registros. Motor estocástico, FE, Master Merge. 9 fases CRISP-DM en notebook ejecutado.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21"/>
          <p:cNvSpPr/>
          <p:nvPr/>
        </p:nvSpPr>
        <p:spPr>
          <a:xfrm>
            <a:off x="365760" y="4078080"/>
            <a:ext cx="4114080" cy="776520"/>
          </a:xfrm>
          <a:prstGeom prst="roundRect">
            <a:avLst>
              <a:gd name="adj" fmla="val 14118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22"/>
          <p:cNvSpPr/>
          <p:nvPr/>
        </p:nvSpPr>
        <p:spPr>
          <a:xfrm>
            <a:off x="365760" y="4078080"/>
            <a:ext cx="474840" cy="776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 23"/>
          <p:cNvSpPr/>
          <p:nvPr/>
        </p:nvSpPr>
        <p:spPr>
          <a:xfrm>
            <a:off x="365760" y="4169520"/>
            <a:ext cx="474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3.1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24"/>
          <p:cNvSpPr/>
          <p:nvPr/>
        </p:nvSpPr>
        <p:spPr>
          <a:xfrm>
            <a:off x="365760" y="4498920"/>
            <a:ext cx="474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EXCELENTE</a:t>
            </a:r>
            <a:endParaRPr lang="es-MX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 25"/>
          <p:cNvSpPr/>
          <p:nvPr/>
        </p:nvSpPr>
        <p:spPr>
          <a:xfrm>
            <a:off x="914400" y="4169520"/>
            <a:ext cx="3474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Data Storytelling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7" name="Text 26"/>
          <p:cNvSpPr/>
          <p:nvPr/>
        </p:nvSpPr>
        <p:spPr>
          <a:xfrm>
            <a:off x="914400" y="442584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Narrativa en 5 artefactos: notebook, Power BI, documentación Word, presentación PPT, historia Tableau.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8" name="Shape 27"/>
          <p:cNvSpPr/>
          <p:nvPr/>
        </p:nvSpPr>
        <p:spPr>
          <a:xfrm>
            <a:off x="4663440" y="1389960"/>
            <a:ext cx="4114080" cy="776520"/>
          </a:xfrm>
          <a:prstGeom prst="roundRect">
            <a:avLst>
              <a:gd name="adj" fmla="val 14118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2DC65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9" name="Shape 28"/>
          <p:cNvSpPr/>
          <p:nvPr/>
        </p:nvSpPr>
        <p:spPr>
          <a:xfrm>
            <a:off x="4663440" y="1389960"/>
            <a:ext cx="474840" cy="776520"/>
          </a:xfrm>
          <a:prstGeom prst="rect">
            <a:avLst/>
          </a:prstGeom>
          <a:solidFill>
            <a:srgbClr val="2DC65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29"/>
          <p:cNvSpPr/>
          <p:nvPr/>
        </p:nvSpPr>
        <p:spPr>
          <a:xfrm>
            <a:off x="4663440" y="1481400"/>
            <a:ext cx="474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3.2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Text 30"/>
          <p:cNvSpPr/>
          <p:nvPr/>
        </p:nvSpPr>
        <p:spPr>
          <a:xfrm>
            <a:off x="4663440" y="1810440"/>
            <a:ext cx="474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SOBRESALIENTE</a:t>
            </a:r>
            <a:endParaRPr lang="es-MX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2" name="Text 31"/>
          <p:cNvSpPr/>
          <p:nvPr/>
        </p:nvSpPr>
        <p:spPr>
          <a:xfrm>
            <a:off x="5212080" y="1481400"/>
            <a:ext cx="3474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UX / UI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 32"/>
          <p:cNvSpPr/>
          <p:nvPr/>
        </p:nvSpPr>
        <p:spPr>
          <a:xfrm>
            <a:off x="5212080" y="173736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Dashboard con tema visual Carnaval Tlaxcala. Semáforo accionable. Glassmorphism. Tooltips de negocio.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33"/>
          <p:cNvSpPr/>
          <p:nvPr/>
        </p:nvSpPr>
        <p:spPr>
          <a:xfrm>
            <a:off x="4663440" y="2286000"/>
            <a:ext cx="4114080" cy="776520"/>
          </a:xfrm>
          <a:prstGeom prst="roundRect">
            <a:avLst>
              <a:gd name="adj" fmla="val 14118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34"/>
          <p:cNvSpPr/>
          <p:nvPr/>
        </p:nvSpPr>
        <p:spPr>
          <a:xfrm>
            <a:off x="4663440" y="2286000"/>
            <a:ext cx="474840" cy="776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Text 35"/>
          <p:cNvSpPr/>
          <p:nvPr/>
        </p:nvSpPr>
        <p:spPr>
          <a:xfrm>
            <a:off x="4663440" y="2377440"/>
            <a:ext cx="474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3.3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36"/>
          <p:cNvSpPr/>
          <p:nvPr/>
        </p:nvSpPr>
        <p:spPr>
          <a:xfrm>
            <a:off x="4663440" y="2706480"/>
            <a:ext cx="474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EXCELENTE</a:t>
            </a:r>
            <a:endParaRPr lang="es-MX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8" name="Text 37"/>
          <p:cNvSpPr/>
          <p:nvPr/>
        </p:nvSpPr>
        <p:spPr>
          <a:xfrm>
            <a:off x="5212080" y="2377440"/>
            <a:ext cx="3474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Power BI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 38"/>
          <p:cNvSpPr/>
          <p:nvPr/>
        </p:nvSpPr>
        <p:spPr>
          <a:xfrm>
            <a:off x="5212080" y="263340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3 páginas. DAX: SUMX, CALCULATE, CONTAINSSTRING. Integración Python→pkl→Power Query.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0" name="Shape 39"/>
          <p:cNvSpPr/>
          <p:nvPr/>
        </p:nvSpPr>
        <p:spPr>
          <a:xfrm>
            <a:off x="4663440" y="3182040"/>
            <a:ext cx="4114080" cy="776520"/>
          </a:xfrm>
          <a:prstGeom prst="roundRect">
            <a:avLst>
              <a:gd name="adj" fmla="val 14118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1" name="Shape 40"/>
          <p:cNvSpPr/>
          <p:nvPr/>
        </p:nvSpPr>
        <p:spPr>
          <a:xfrm>
            <a:off x="4663440" y="3182040"/>
            <a:ext cx="474840" cy="776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41"/>
          <p:cNvSpPr/>
          <p:nvPr/>
        </p:nvSpPr>
        <p:spPr>
          <a:xfrm>
            <a:off x="4663440" y="3273480"/>
            <a:ext cx="474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4.1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3" name="Text 42"/>
          <p:cNvSpPr/>
          <p:nvPr/>
        </p:nvSpPr>
        <p:spPr>
          <a:xfrm>
            <a:off x="4663440" y="3602880"/>
            <a:ext cx="474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EXCELENTE</a:t>
            </a:r>
            <a:endParaRPr lang="es-MX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4" name="Text 43"/>
          <p:cNvSpPr/>
          <p:nvPr/>
        </p:nvSpPr>
        <p:spPr>
          <a:xfrm>
            <a:off x="5212080" y="3273480"/>
            <a:ext cx="3474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Análisis Predictivo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 44"/>
          <p:cNvSpPr/>
          <p:nvPr/>
        </p:nvSpPr>
        <p:spPr>
          <a:xfrm>
            <a:off x="5212080" y="352944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Reg. Simple + Múltiple + Backward Elimination + supuestos Gauss-Markov + 5-Fold CV.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5"/>
          <p:cNvSpPr/>
          <p:nvPr/>
        </p:nvSpPr>
        <p:spPr>
          <a:xfrm>
            <a:off x="4663440" y="4078080"/>
            <a:ext cx="4114080" cy="776520"/>
          </a:xfrm>
          <a:prstGeom prst="roundRect">
            <a:avLst>
              <a:gd name="adj" fmla="val 14118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46"/>
          <p:cNvSpPr/>
          <p:nvPr/>
        </p:nvSpPr>
        <p:spPr>
          <a:xfrm>
            <a:off x="4663440" y="4078080"/>
            <a:ext cx="474840" cy="776520"/>
          </a:xfrm>
          <a:prstGeom prst="rect">
            <a:avLst/>
          </a:prstGeom>
          <a:solidFill>
            <a:srgbClr val="00B4D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Text 47"/>
          <p:cNvSpPr/>
          <p:nvPr/>
        </p:nvSpPr>
        <p:spPr>
          <a:xfrm>
            <a:off x="4663440" y="4169520"/>
            <a:ext cx="47484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5.1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48"/>
          <p:cNvSpPr/>
          <p:nvPr/>
        </p:nvSpPr>
        <p:spPr>
          <a:xfrm>
            <a:off x="4663440" y="4498920"/>
            <a:ext cx="47484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5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EXCELENTE</a:t>
            </a:r>
            <a:endParaRPr lang="es-MX" sz="6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 49"/>
          <p:cNvSpPr/>
          <p:nvPr/>
        </p:nvSpPr>
        <p:spPr>
          <a:xfrm>
            <a:off x="5212080" y="4169520"/>
            <a:ext cx="347400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AutoML / Augmented ML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1" name="Text 50"/>
          <p:cNvSpPr/>
          <p:nvPr/>
        </p:nvSpPr>
        <p:spPr>
          <a:xfrm>
            <a:off x="5212080" y="4425840"/>
            <a:ext cx="3474000" cy="40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PyCaret: 15+ algos, LGBMRegressor campeón, tuning, SHAP/Feature Importance, Blind Test OOT 2,097 trans.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51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3" name="Text 52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16/18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Shape 0"/>
          <p:cNvSpPr/>
          <p:nvPr/>
        </p:nvSpPr>
        <p:spPr>
          <a:xfrm>
            <a:off x="365760" y="164520"/>
            <a:ext cx="2193840" cy="273600"/>
          </a:xfrm>
          <a:prstGeom prst="roundRect">
            <a:avLst>
              <a:gd name="adj" fmla="val 26667"/>
            </a:avLst>
          </a:prstGeom>
          <a:solidFill>
            <a:srgbClr val="00B4D8">
              <a:alpha val="85000"/>
            </a:srgbClr>
          </a:solidFill>
          <a:ln w="1270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Text 1"/>
          <p:cNvSpPr/>
          <p:nvPr/>
        </p:nvSpPr>
        <p:spPr>
          <a:xfrm>
            <a:off x="365760" y="164520"/>
            <a:ext cx="219384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150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08 • TRABAJO FUTURO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 2"/>
          <p:cNvSpPr/>
          <p:nvPr/>
        </p:nvSpPr>
        <p:spPr>
          <a:xfrm>
            <a:off x="365760" y="502920"/>
            <a:ext cx="8411760" cy="65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Roadmap: del Gemelo Digital a producción real</a:t>
            </a:r>
            <a:endParaRPr lang="es-MX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 3"/>
          <p:cNvSpPr/>
          <p:nvPr/>
        </p:nvSpPr>
        <p:spPr>
          <a:xfrm>
            <a:off x="365760" y="972720"/>
            <a:ext cx="84117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¿Cómo extrapolarlo a datos reales?</a:t>
            </a:r>
            <a:endParaRPr lang="es-MX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4"/>
          <p:cNvSpPr/>
          <p:nvPr/>
        </p:nvSpPr>
        <p:spPr>
          <a:xfrm>
            <a:off x="365760" y="1201320"/>
            <a:ext cx="2669400" cy="3309480"/>
          </a:xfrm>
          <a:prstGeom prst="roundRect">
            <a:avLst>
              <a:gd name="adj" fmla="val 4110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 5"/>
          <p:cNvSpPr/>
          <p:nvPr/>
        </p:nvSpPr>
        <p:spPr>
          <a:xfrm>
            <a:off x="457200" y="1292760"/>
            <a:ext cx="2486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FASE 1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0" name="Text 6"/>
          <p:cNvSpPr/>
          <p:nvPr/>
        </p:nvSpPr>
        <p:spPr>
          <a:xfrm>
            <a:off x="457200" y="155808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Marcha Blanca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3–6 meses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1" name="Shape 7"/>
          <p:cNvSpPr/>
          <p:nvPr/>
        </p:nvSpPr>
        <p:spPr>
          <a:xfrm>
            <a:off x="457200" y="2234520"/>
            <a:ext cx="2486880" cy="360"/>
          </a:xfrm>
          <a:prstGeom prst="line">
            <a:avLst/>
          </a:prstGeom>
          <a:ln w="1016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2" name="Text 8"/>
          <p:cNvSpPr/>
          <p:nvPr/>
        </p:nvSpPr>
        <p:spPr>
          <a:xfrm>
            <a:off x="457200" y="236268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Implementar registro digital de ventas (POS o Excel estructurado)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3" name="Text 9"/>
          <p:cNvSpPr/>
          <p:nvPr/>
        </p:nvSpPr>
        <p:spPr>
          <a:xfrm>
            <a:off x="457200" y="302112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Capturar al menos una temporada completa de datos reales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4" name="Text 10"/>
          <p:cNvSpPr/>
          <p:nvPr/>
        </p:nvSpPr>
        <p:spPr>
          <a:xfrm>
            <a:off x="457200" y="367920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Medir el sobre-pedido real del dueño — calibrar el supuesto del 40%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5" name="Text 11"/>
          <p:cNvSpPr/>
          <p:nvPr/>
        </p:nvSpPr>
        <p:spPr>
          <a:xfrm>
            <a:off x="3035880" y="2572920"/>
            <a:ext cx="20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MX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6" name="Shape 12"/>
          <p:cNvSpPr/>
          <p:nvPr/>
        </p:nvSpPr>
        <p:spPr>
          <a:xfrm>
            <a:off x="3246120" y="1201320"/>
            <a:ext cx="2669400" cy="3309480"/>
          </a:xfrm>
          <a:prstGeom prst="roundRect">
            <a:avLst>
              <a:gd name="adj" fmla="val 4110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Text 13"/>
          <p:cNvSpPr/>
          <p:nvPr/>
        </p:nvSpPr>
        <p:spPr>
          <a:xfrm>
            <a:off x="3337560" y="1292760"/>
            <a:ext cx="2486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FASE 2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8" name="Text 14"/>
          <p:cNvSpPr/>
          <p:nvPr/>
        </p:nvSpPr>
        <p:spPr>
          <a:xfrm>
            <a:off x="3337560" y="155808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Reentrenamiento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1–2 semanas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9" name="Shape 15"/>
          <p:cNvSpPr/>
          <p:nvPr/>
        </p:nvSpPr>
        <p:spPr>
          <a:xfrm>
            <a:off x="3337560" y="2234520"/>
            <a:ext cx="2486880" cy="360"/>
          </a:xfrm>
          <a:prstGeom prst="line">
            <a:avLst/>
          </a:prstGeom>
          <a:ln w="10160">
            <a:solidFill>
              <a:srgbClr val="1E3A5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0" name="Text 16"/>
          <p:cNvSpPr/>
          <p:nvPr/>
        </p:nvSpPr>
        <p:spPr>
          <a:xfrm>
            <a:off x="3337560" y="236268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Reemplazar datos sintéticos por histórico real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1" name="Text 17"/>
          <p:cNvSpPr/>
          <p:nvPr/>
        </p:nvSpPr>
        <p:spPr>
          <a:xfrm>
            <a:off x="3337560" y="302112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Reentrenar el pipeline completo con PyCaret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2" name="Text 18"/>
          <p:cNvSpPr/>
          <p:nvPr/>
        </p:nvSpPr>
        <p:spPr>
          <a:xfrm>
            <a:off x="3337560" y="367920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Validar si LGBMRegressor sigue siendo el campeón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Text 19"/>
          <p:cNvSpPr/>
          <p:nvPr/>
        </p:nvSpPr>
        <p:spPr>
          <a:xfrm>
            <a:off x="5916240" y="2572920"/>
            <a:ext cx="20952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E3A5F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s-MX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4" name="Shape 20"/>
          <p:cNvSpPr/>
          <p:nvPr/>
        </p:nvSpPr>
        <p:spPr>
          <a:xfrm>
            <a:off x="6126480" y="1201320"/>
            <a:ext cx="2669400" cy="3309480"/>
          </a:xfrm>
          <a:prstGeom prst="roundRect">
            <a:avLst>
              <a:gd name="adj" fmla="val 4110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5" name="Text 21"/>
          <p:cNvSpPr/>
          <p:nvPr/>
        </p:nvSpPr>
        <p:spPr>
          <a:xfrm>
            <a:off x="6217920" y="1292760"/>
            <a:ext cx="24865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150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FASE 3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22"/>
          <p:cNvSpPr/>
          <p:nvPr/>
        </p:nvSpPr>
        <p:spPr>
          <a:xfrm>
            <a:off x="6217920" y="155808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Monitoreo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Continuo</a:t>
            </a:r>
            <a:endParaRPr lang="es-MX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7" name="Shape 23"/>
          <p:cNvSpPr/>
          <p:nvPr/>
        </p:nvSpPr>
        <p:spPr>
          <a:xfrm>
            <a:off x="6217920" y="2234520"/>
            <a:ext cx="2486880" cy="360"/>
          </a:xfrm>
          <a:prstGeom prst="line">
            <a:avLst/>
          </a:prstGeom>
          <a:ln w="1016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24"/>
          <p:cNvSpPr/>
          <p:nvPr/>
        </p:nvSpPr>
        <p:spPr>
          <a:xfrm>
            <a:off x="6217920" y="236268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Alertas de Data Drift (desviación estadística del modelo)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9" name="Text 25"/>
          <p:cNvSpPr/>
          <p:nvPr/>
        </p:nvSpPr>
        <p:spPr>
          <a:xfrm>
            <a:off x="6217920" y="302112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Reentrenamiento semestral programado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0" name="Text 26"/>
          <p:cNvSpPr/>
          <p:nvPr/>
        </p:nvSpPr>
        <p:spPr>
          <a:xfrm>
            <a:off x="6217920" y="3679200"/>
            <a:ext cx="248652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▸  Incorporar Lead_Time_Proveedor con datos reales consistentes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1" name="Shape 27"/>
          <p:cNvSpPr/>
          <p:nvPr/>
        </p:nvSpPr>
        <p:spPr>
          <a:xfrm>
            <a:off x="365760" y="4611960"/>
            <a:ext cx="8411760" cy="200520"/>
          </a:xfrm>
          <a:prstGeom prst="roundRect">
            <a:avLst>
              <a:gd name="adj" fmla="val 54545"/>
            </a:avLst>
          </a:prstGeom>
          <a:solidFill>
            <a:srgbClr val="1E2D4A">
              <a:alpha val="90000"/>
            </a:srgbClr>
          </a:solidFill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2" name="Text 28"/>
          <p:cNvSpPr/>
          <p:nvPr/>
        </p:nvSpPr>
        <p:spPr>
          <a:xfrm>
            <a:off x="457200" y="4611960"/>
            <a:ext cx="8228880" cy="20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El Gemelo Digital tiene la arquitectura lista — la transición a datos reales no requiere rediseño, solo reentrenamiento del pipeline existente.</a:t>
            </a:r>
            <a:endParaRPr lang="es-MX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3" name="Text 29"/>
          <p:cNvSpPr/>
          <p:nvPr/>
        </p:nvSpPr>
        <p:spPr>
          <a:xfrm>
            <a:off x="365760" y="4873680"/>
            <a:ext cx="8411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50" b="0" u="none" spc="99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TEC DE MONTERREY  |  THE LEARNING GATE  |  CDS 2025</a:t>
            </a:r>
            <a:endParaRPr lang="es-MX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4" name="Text 30"/>
          <p:cNvSpPr/>
          <p:nvPr/>
        </p:nvSpPr>
        <p:spPr>
          <a:xfrm>
            <a:off x="8460000" y="4873680"/>
            <a:ext cx="6375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17/18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Shape 0"/>
          <p:cNvSpPr/>
          <p:nvPr/>
        </p:nvSpPr>
        <p:spPr>
          <a:xfrm>
            <a:off x="6400800" y="-914400"/>
            <a:ext cx="4114080" cy="411408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6" name="Shape 1"/>
          <p:cNvSpPr/>
          <p:nvPr/>
        </p:nvSpPr>
        <p:spPr>
          <a:xfrm>
            <a:off x="-914400" y="3200400"/>
            <a:ext cx="2742480" cy="2742480"/>
          </a:xfrm>
          <a:prstGeom prst="ellipse">
            <a:avLst/>
          </a:prstGeom>
          <a:solidFill>
            <a:srgbClr val="FFB703">
              <a:alpha val="10000"/>
            </a:srgbClr>
          </a:solidFill>
          <a:ln w="12700">
            <a:solidFill>
              <a:srgbClr val="00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MX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2"/>
          <p:cNvSpPr/>
          <p:nvPr/>
        </p:nvSpPr>
        <p:spPr>
          <a:xfrm>
            <a:off x="457200" y="365760"/>
            <a:ext cx="82288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1" u="none" spc="249" strike="noStrike">
                <a:solidFill>
                  <a:srgbClr val="00B4D8"/>
                </a:solidFill>
                <a:effectLst/>
                <a:uFillTx/>
                <a:latin typeface="Calibri"/>
                <a:ea typeface="Calibri"/>
              </a:rPr>
              <a:t>CITIZEN DATA SCIENTIST — TECNOLÓGICO DE MONTERREY</a:t>
            </a:r>
            <a:endParaRPr lang="es-MX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8" name="Text 3"/>
          <p:cNvSpPr/>
          <p:nvPr/>
        </p:nvSpPr>
        <p:spPr>
          <a:xfrm>
            <a:off x="457200" y="658440"/>
            <a:ext cx="8228880" cy="126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Gemelo Digital de Inventario</a:t>
            </a:r>
            <a:endParaRPr lang="es-MX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en Retail — Mercería Tommy</a:t>
            </a:r>
            <a:endParaRPr lang="es-MX" sz="3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9" name="Text 4"/>
          <p:cNvSpPr/>
          <p:nvPr/>
        </p:nvSpPr>
        <p:spPr>
          <a:xfrm>
            <a:off x="457200" y="1965960"/>
            <a:ext cx="73144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Carlos Escalante Sánchez |  Mayo 2026</a:t>
            </a:r>
            <a:endParaRPr lang="es-MX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5"/>
          <p:cNvSpPr/>
          <p:nvPr/>
        </p:nvSpPr>
        <p:spPr>
          <a:xfrm>
            <a:off x="457200" y="2304000"/>
            <a:ext cx="5943600" cy="360"/>
          </a:xfrm>
          <a:prstGeom prst="line">
            <a:avLst/>
          </a:prstGeom>
          <a:ln w="15240">
            <a:solidFill>
              <a:srgbClr val="00B4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Text 6"/>
          <p:cNvSpPr/>
          <p:nvPr/>
        </p:nvSpPr>
        <p:spPr>
          <a:xfrm>
            <a:off x="457200" y="2450520"/>
            <a:ext cx="2056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±5.53 uds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Text 7"/>
          <p:cNvSpPr/>
          <p:nvPr/>
        </p:nvSpPr>
        <p:spPr>
          <a:xfrm>
            <a:off x="457200" y="3090600"/>
            <a:ext cx="2056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RMSE — Blind Test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OOT Carnaval 2026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3" name="Text 8"/>
          <p:cNvSpPr/>
          <p:nvPr/>
        </p:nvSpPr>
        <p:spPr>
          <a:xfrm>
            <a:off x="2633400" y="2450520"/>
            <a:ext cx="2056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63.47%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9"/>
          <p:cNvSpPr/>
          <p:nvPr/>
        </p:nvSpPr>
        <p:spPr>
          <a:xfrm>
            <a:off x="2633400" y="3090600"/>
            <a:ext cx="2056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Tasa Aciertos OOT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Reg. Múltiple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10"/>
          <p:cNvSpPr/>
          <p:nvPr/>
        </p:nvSpPr>
        <p:spPr>
          <a:xfrm>
            <a:off x="4809600" y="2450520"/>
            <a:ext cx="2056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$181K MXN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6" name="Text 11"/>
          <p:cNvSpPr/>
          <p:nvPr/>
        </p:nvSpPr>
        <p:spPr>
          <a:xfrm>
            <a:off x="4809600" y="3090600"/>
            <a:ext cx="2056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Capital Liberado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Escenario Base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7" name="Text 12"/>
          <p:cNvSpPr/>
          <p:nvPr/>
        </p:nvSpPr>
        <p:spPr>
          <a:xfrm>
            <a:off x="6986160" y="2450520"/>
            <a:ext cx="20566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90E0EF"/>
                </a:solidFill>
                <a:effectLst/>
                <a:uFillTx/>
                <a:latin typeface="Calibri"/>
                <a:ea typeface="Calibri"/>
              </a:rPr>
              <a:t>$607K MXN</a:t>
            </a:r>
            <a:endParaRPr lang="es-MX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8" name="Text 13"/>
          <p:cNvSpPr/>
          <p:nvPr/>
        </p:nvSpPr>
        <p:spPr>
          <a:xfrm>
            <a:off x="6986160" y="3090600"/>
            <a:ext cx="2056680" cy="43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Ganancia Proyectada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D99AE"/>
                </a:solidFill>
                <a:effectLst/>
                <a:uFillTx/>
                <a:latin typeface="Calibri"/>
                <a:ea typeface="Calibri"/>
              </a:rPr>
              <a:t>Carnaval 2026</a:t>
            </a:r>
            <a:endParaRPr lang="es-MX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9" name="Shape 14"/>
          <p:cNvSpPr/>
          <p:nvPr/>
        </p:nvSpPr>
        <p:spPr>
          <a:xfrm>
            <a:off x="457200" y="3602520"/>
            <a:ext cx="5943600" cy="360"/>
          </a:xfrm>
          <a:prstGeom prst="line">
            <a:avLst/>
          </a:prstGeom>
          <a:ln w="10160">
            <a:solidFill>
              <a:srgbClr val="2A355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s-MX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5"/>
          <p:cNvSpPr/>
          <p:nvPr/>
        </p:nvSpPr>
        <p:spPr>
          <a:xfrm>
            <a:off x="457200" y="3749040"/>
            <a:ext cx="5028480" cy="62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¿Preguntas?</a:t>
            </a:r>
            <a:endParaRPr lang="es-MX" sz="3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18"/>
          <p:cNvSpPr/>
          <p:nvPr/>
        </p:nvSpPr>
        <p:spPr>
          <a:xfrm>
            <a:off x="457200" y="4846320"/>
            <a:ext cx="8411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0" u="none" spc="150" strike="noStrike">
                <a:solidFill>
                  <a:srgbClr val="333355"/>
                </a:solidFill>
                <a:effectLst/>
                <a:uFillTx/>
                <a:latin typeface="Calibri"/>
                <a:ea typeface="Calibri"/>
              </a:rPr>
              <a:t>TEC DE MONTERREY  |  THE LEARNING GATE</a:t>
            </a:r>
            <a:endParaRPr lang="es-MX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19"/>
          <p:cNvSpPr/>
          <p:nvPr/>
        </p:nvSpPr>
        <p:spPr>
          <a:xfrm>
            <a:off x="8686800" y="4873680"/>
            <a:ext cx="410760" cy="163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444466"/>
                </a:solidFill>
                <a:effectLst/>
                <a:uFillTx/>
                <a:latin typeface="Calibri"/>
                <a:ea typeface="Calibri"/>
              </a:rPr>
              <a:t>18/18</a:t>
            </a:r>
            <a:endParaRPr lang="es-MX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LibreOffice/26.2.1.2$Windows_X86_64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2026-05-16T17:45:42Z</dcterms:created>
  <dc:creator>Carlos Escalante Sánchez</dc:creator>
  <dc:description/>
  <dc:language>es-MX</dc:language>
  <cp:lastModifiedBy/>
  <dcterms:modified xsi:type="dcterms:W3CDTF">2026-05-18T12:57:05Z</dcterms:modified>
  <cp:revision>4</cp:revision>
  <dc:subject>PptxGenJS Presentation</dc:subject>
  <dc:title>Gemelo Digital de Inventario — Mercería Tommy | Power BI | CDS TLG 2025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